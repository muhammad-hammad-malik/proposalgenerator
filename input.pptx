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18288000" cy="10287000"/>
  <p:embeddedFontLst>
    <p:embeddedFont>
      <p:font typeface="Tahoma"/>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Tahoma-bold.fntdata"/><Relationship Id="rId14" Type="http://schemas.openxmlformats.org/officeDocument/2006/relationships/font" Target="fonts/Tahom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 name="Google Shape;41;p1: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 name="Google Shape;62;p2: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3: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5: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6: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7: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8: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717103" y="1305446"/>
            <a:ext cx="7544434" cy="131889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53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1455339" y="2902989"/>
            <a:ext cx="9506585" cy="248285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2350">
                <a:solidFill>
                  <a:schemeClr val="dk1"/>
                </a:solidFill>
                <a:latin typeface="Tahoma"/>
                <a:ea typeface="Tahoma"/>
                <a:cs typeface="Tahoma"/>
                <a:sym typeface="Tahom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 name="Google Shape;14;p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3"/>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53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235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4"/>
          <p:cNvSpPr txBox="1"/>
          <p:nvPr>
            <p:ph type="title"/>
          </p:nvPr>
        </p:nvSpPr>
        <p:spPr>
          <a:xfrm>
            <a:off x="717103" y="1305446"/>
            <a:ext cx="7544434" cy="131889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53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4"/>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5"/>
          <p:cNvSpPr txBox="1"/>
          <p:nvPr>
            <p:ph type="title"/>
          </p:nvPr>
        </p:nvSpPr>
        <p:spPr>
          <a:xfrm>
            <a:off x="717103" y="1305446"/>
            <a:ext cx="7544434" cy="131889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53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 name="Shape 35"/>
        <p:cNvGrpSpPr/>
        <p:nvPr/>
      </p:nvGrpSpPr>
      <p:grpSpPr>
        <a:xfrm>
          <a:off x="0" y="0"/>
          <a:ext cx="0" cy="0"/>
          <a:chOff x="0" y="0"/>
          <a:chExt cx="0" cy="0"/>
        </a:xfrm>
      </p:grpSpPr>
      <p:sp>
        <p:nvSpPr>
          <p:cNvPr id="36" name="Google Shape;36;p6"/>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7103" y="1305446"/>
            <a:ext cx="7544434" cy="13188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53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1455339" y="2902989"/>
            <a:ext cx="9506585" cy="248285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2350" u="none" cap="none" strike="noStrike">
                <a:solidFill>
                  <a:schemeClr val="dk1"/>
                </a:solidFill>
                <a:latin typeface="Tahoma"/>
                <a:ea typeface="Tahoma"/>
                <a:cs typeface="Tahoma"/>
                <a:sym typeface="Tahoma"/>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hyperlink" Target="http://www.digitaldreamworksagency.com/" TargetMode="External"/><Relationship Id="rId6" Type="http://schemas.openxmlformats.org/officeDocument/2006/relationships/image" Target="../media/image14.png"/><Relationship Id="rId7"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www.digitaldreamworksagency.com/" TargetMode="External"/><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7.png"/><Relationship Id="rId7"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grpSp>
        <p:nvGrpSpPr>
          <p:cNvPr id="43" name="Google Shape;43;p7"/>
          <p:cNvGrpSpPr/>
          <p:nvPr/>
        </p:nvGrpSpPr>
        <p:grpSpPr>
          <a:xfrm>
            <a:off x="0" y="0"/>
            <a:ext cx="18288000" cy="10286999"/>
            <a:chOff x="0" y="0"/>
            <a:chExt cx="18288000" cy="10286999"/>
          </a:xfrm>
        </p:grpSpPr>
        <p:pic>
          <p:nvPicPr>
            <p:cNvPr id="44" name="Google Shape;44;p7"/>
            <p:cNvPicPr preferRelativeResize="0"/>
            <p:nvPr/>
          </p:nvPicPr>
          <p:blipFill rotWithShape="1">
            <a:blip r:embed="rId3">
              <a:alphaModFix/>
            </a:blip>
            <a:srcRect b="0" l="0" r="0" t="0"/>
            <a:stretch/>
          </p:blipFill>
          <p:spPr>
            <a:xfrm>
              <a:off x="0" y="0"/>
              <a:ext cx="18288000" cy="10286999"/>
            </a:xfrm>
            <a:prstGeom prst="rect">
              <a:avLst/>
            </a:prstGeom>
            <a:noFill/>
            <a:ln>
              <a:noFill/>
            </a:ln>
          </p:spPr>
        </p:pic>
        <p:sp>
          <p:nvSpPr>
            <p:cNvPr id="45" name="Google Shape;45;p7"/>
            <p:cNvSpPr/>
            <p:nvPr/>
          </p:nvSpPr>
          <p:spPr>
            <a:xfrm>
              <a:off x="1411814" y="6618961"/>
              <a:ext cx="12114530" cy="0"/>
            </a:xfrm>
            <a:custGeom>
              <a:rect b="b" l="l" r="r" t="t"/>
              <a:pathLst>
                <a:path extrusionOk="0" h="120000" w="12114530">
                  <a:moveTo>
                    <a:pt x="0" y="0"/>
                  </a:moveTo>
                  <a:lnTo>
                    <a:pt x="12114057" y="0"/>
                  </a:lnTo>
                </a:path>
              </a:pathLst>
            </a:custGeom>
            <a:noFill/>
            <a:ln cap="flat" cmpd="sng" w="66650">
              <a:solidFill>
                <a:srgbClr val="B0030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7"/>
            <p:cNvSpPr/>
            <p:nvPr/>
          </p:nvSpPr>
          <p:spPr>
            <a:xfrm>
              <a:off x="1411808" y="8706433"/>
              <a:ext cx="7564755" cy="252095"/>
            </a:xfrm>
            <a:custGeom>
              <a:rect b="b" l="l" r="r" t="t"/>
              <a:pathLst>
                <a:path extrusionOk="0" h="252095" w="7564755">
                  <a:moveTo>
                    <a:pt x="238379" y="119189"/>
                  </a:moveTo>
                  <a:lnTo>
                    <a:pt x="229019" y="72796"/>
                  </a:lnTo>
                  <a:lnTo>
                    <a:pt x="203479" y="34912"/>
                  </a:lnTo>
                  <a:lnTo>
                    <a:pt x="165582" y="9359"/>
                  </a:lnTo>
                  <a:lnTo>
                    <a:pt x="119189" y="0"/>
                  </a:lnTo>
                  <a:lnTo>
                    <a:pt x="72796" y="9359"/>
                  </a:lnTo>
                  <a:lnTo>
                    <a:pt x="34912" y="34912"/>
                  </a:lnTo>
                  <a:lnTo>
                    <a:pt x="9372" y="72796"/>
                  </a:lnTo>
                  <a:lnTo>
                    <a:pt x="0" y="119189"/>
                  </a:lnTo>
                  <a:lnTo>
                    <a:pt x="9372" y="165582"/>
                  </a:lnTo>
                  <a:lnTo>
                    <a:pt x="34912" y="203466"/>
                  </a:lnTo>
                  <a:lnTo>
                    <a:pt x="72796" y="229019"/>
                  </a:lnTo>
                  <a:lnTo>
                    <a:pt x="119189" y="238379"/>
                  </a:lnTo>
                  <a:lnTo>
                    <a:pt x="165582" y="229019"/>
                  </a:lnTo>
                  <a:lnTo>
                    <a:pt x="203479" y="203466"/>
                  </a:lnTo>
                  <a:lnTo>
                    <a:pt x="229019" y="165582"/>
                  </a:lnTo>
                  <a:lnTo>
                    <a:pt x="238379" y="119189"/>
                  </a:lnTo>
                  <a:close/>
                </a:path>
                <a:path extrusionOk="0" h="252095" w="7564755">
                  <a:moveTo>
                    <a:pt x="2348052" y="119189"/>
                  </a:moveTo>
                  <a:lnTo>
                    <a:pt x="2338692" y="72796"/>
                  </a:lnTo>
                  <a:lnTo>
                    <a:pt x="2313140" y="34912"/>
                  </a:lnTo>
                  <a:lnTo>
                    <a:pt x="2275255" y="9359"/>
                  </a:lnTo>
                  <a:lnTo>
                    <a:pt x="2228862" y="0"/>
                  </a:lnTo>
                  <a:lnTo>
                    <a:pt x="2182469" y="9359"/>
                  </a:lnTo>
                  <a:lnTo>
                    <a:pt x="2144585" y="34912"/>
                  </a:lnTo>
                  <a:lnTo>
                    <a:pt x="2119033" y="72796"/>
                  </a:lnTo>
                  <a:lnTo>
                    <a:pt x="2109673" y="119189"/>
                  </a:lnTo>
                  <a:lnTo>
                    <a:pt x="2119033" y="165582"/>
                  </a:lnTo>
                  <a:lnTo>
                    <a:pt x="2144585" y="203466"/>
                  </a:lnTo>
                  <a:lnTo>
                    <a:pt x="2182469" y="229019"/>
                  </a:lnTo>
                  <a:lnTo>
                    <a:pt x="2228862" y="238379"/>
                  </a:lnTo>
                  <a:lnTo>
                    <a:pt x="2275255" y="229019"/>
                  </a:lnTo>
                  <a:lnTo>
                    <a:pt x="2313140" y="203466"/>
                  </a:lnTo>
                  <a:lnTo>
                    <a:pt x="2338692" y="165582"/>
                  </a:lnTo>
                  <a:lnTo>
                    <a:pt x="2348052" y="119189"/>
                  </a:lnTo>
                  <a:close/>
                </a:path>
                <a:path extrusionOk="0" h="252095" w="7564755">
                  <a:moveTo>
                    <a:pt x="7564234" y="132334"/>
                  </a:moveTo>
                  <a:lnTo>
                    <a:pt x="7554874" y="85940"/>
                  </a:lnTo>
                  <a:lnTo>
                    <a:pt x="7529322" y="48056"/>
                  </a:lnTo>
                  <a:lnTo>
                    <a:pt x="7491438" y="22504"/>
                  </a:lnTo>
                  <a:lnTo>
                    <a:pt x="7445045" y="13144"/>
                  </a:lnTo>
                  <a:lnTo>
                    <a:pt x="7398652" y="22504"/>
                  </a:lnTo>
                  <a:lnTo>
                    <a:pt x="7360767" y="48056"/>
                  </a:lnTo>
                  <a:lnTo>
                    <a:pt x="7335215" y="85940"/>
                  </a:lnTo>
                  <a:lnTo>
                    <a:pt x="7325855" y="132334"/>
                  </a:lnTo>
                  <a:lnTo>
                    <a:pt x="7335215" y="178727"/>
                  </a:lnTo>
                  <a:lnTo>
                    <a:pt x="7360767" y="216611"/>
                  </a:lnTo>
                  <a:lnTo>
                    <a:pt x="7398652" y="242163"/>
                  </a:lnTo>
                  <a:lnTo>
                    <a:pt x="7445045" y="251523"/>
                  </a:lnTo>
                  <a:lnTo>
                    <a:pt x="7491438" y="242163"/>
                  </a:lnTo>
                  <a:lnTo>
                    <a:pt x="7529322" y="216611"/>
                  </a:lnTo>
                  <a:lnTo>
                    <a:pt x="7554874" y="178727"/>
                  </a:lnTo>
                  <a:lnTo>
                    <a:pt x="7564234" y="13233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7"/>
            <p:cNvSpPr/>
            <p:nvPr/>
          </p:nvSpPr>
          <p:spPr>
            <a:xfrm>
              <a:off x="1471409" y="8760231"/>
              <a:ext cx="2223770" cy="133350"/>
            </a:xfrm>
            <a:custGeom>
              <a:rect b="b" l="l" r="r" t="t"/>
              <a:pathLst>
                <a:path extrusionOk="0" h="133350" w="2223770">
                  <a:moveTo>
                    <a:pt x="84467" y="63487"/>
                  </a:moveTo>
                  <a:lnTo>
                    <a:pt x="82918" y="55968"/>
                  </a:lnTo>
                  <a:lnTo>
                    <a:pt x="78701" y="49834"/>
                  </a:lnTo>
                  <a:lnTo>
                    <a:pt x="72466" y="45681"/>
                  </a:lnTo>
                  <a:lnTo>
                    <a:pt x="64833" y="44170"/>
                  </a:lnTo>
                  <a:lnTo>
                    <a:pt x="63017" y="44170"/>
                  </a:lnTo>
                  <a:lnTo>
                    <a:pt x="61468" y="44792"/>
                  </a:lnTo>
                  <a:lnTo>
                    <a:pt x="58889" y="47320"/>
                  </a:lnTo>
                  <a:lnTo>
                    <a:pt x="58254" y="48844"/>
                  </a:lnTo>
                  <a:lnTo>
                    <a:pt x="58254" y="52425"/>
                  </a:lnTo>
                  <a:lnTo>
                    <a:pt x="58889" y="53949"/>
                  </a:lnTo>
                  <a:lnTo>
                    <a:pt x="61468" y="56476"/>
                  </a:lnTo>
                  <a:lnTo>
                    <a:pt x="63017" y="57099"/>
                  </a:lnTo>
                  <a:lnTo>
                    <a:pt x="68402" y="57099"/>
                  </a:lnTo>
                  <a:lnTo>
                    <a:pt x="71310" y="59969"/>
                  </a:lnTo>
                  <a:lnTo>
                    <a:pt x="71310" y="65278"/>
                  </a:lnTo>
                  <a:lnTo>
                    <a:pt x="71958" y="66802"/>
                  </a:lnTo>
                  <a:lnTo>
                    <a:pt x="74523" y="69329"/>
                  </a:lnTo>
                  <a:lnTo>
                    <a:pt x="76073" y="69951"/>
                  </a:lnTo>
                  <a:lnTo>
                    <a:pt x="77889" y="69951"/>
                  </a:lnTo>
                  <a:lnTo>
                    <a:pt x="79705" y="69951"/>
                  </a:lnTo>
                  <a:lnTo>
                    <a:pt x="81254" y="69329"/>
                  </a:lnTo>
                  <a:lnTo>
                    <a:pt x="83820" y="66802"/>
                  </a:lnTo>
                  <a:lnTo>
                    <a:pt x="84467" y="65278"/>
                  </a:lnTo>
                  <a:lnTo>
                    <a:pt x="84467" y="63487"/>
                  </a:lnTo>
                  <a:close/>
                </a:path>
                <a:path extrusionOk="0" h="133350" w="2223770">
                  <a:moveTo>
                    <a:pt x="104533" y="63487"/>
                  </a:moveTo>
                  <a:lnTo>
                    <a:pt x="101396" y="48298"/>
                  </a:lnTo>
                  <a:lnTo>
                    <a:pt x="92887" y="35877"/>
                  </a:lnTo>
                  <a:lnTo>
                    <a:pt x="80264" y="27495"/>
                  </a:lnTo>
                  <a:lnTo>
                    <a:pt x="64833" y="24422"/>
                  </a:lnTo>
                  <a:lnTo>
                    <a:pt x="64617" y="24422"/>
                  </a:lnTo>
                  <a:lnTo>
                    <a:pt x="62699" y="24460"/>
                  </a:lnTo>
                  <a:lnTo>
                    <a:pt x="61175" y="25107"/>
                  </a:lnTo>
                  <a:lnTo>
                    <a:pt x="58648" y="27647"/>
                  </a:lnTo>
                  <a:lnTo>
                    <a:pt x="58026" y="29184"/>
                  </a:lnTo>
                  <a:lnTo>
                    <a:pt x="58064" y="32740"/>
                  </a:lnTo>
                  <a:lnTo>
                    <a:pt x="58712" y="34251"/>
                  </a:lnTo>
                  <a:lnTo>
                    <a:pt x="61290" y="36741"/>
                  </a:lnTo>
                  <a:lnTo>
                    <a:pt x="62826" y="37363"/>
                  </a:lnTo>
                  <a:lnTo>
                    <a:pt x="64643" y="37363"/>
                  </a:lnTo>
                  <a:lnTo>
                    <a:pt x="64820" y="37363"/>
                  </a:lnTo>
                  <a:lnTo>
                    <a:pt x="75209" y="39433"/>
                  </a:lnTo>
                  <a:lnTo>
                    <a:pt x="83616" y="45046"/>
                  </a:lnTo>
                  <a:lnTo>
                    <a:pt x="89293" y="53327"/>
                  </a:lnTo>
                  <a:lnTo>
                    <a:pt x="91376" y="63461"/>
                  </a:lnTo>
                  <a:lnTo>
                    <a:pt x="91376" y="63741"/>
                  </a:lnTo>
                  <a:lnTo>
                    <a:pt x="91325" y="67322"/>
                  </a:lnTo>
                  <a:lnTo>
                    <a:pt x="94221" y="70243"/>
                  </a:lnTo>
                  <a:lnTo>
                    <a:pt x="97853" y="70294"/>
                  </a:lnTo>
                  <a:lnTo>
                    <a:pt x="101536" y="70294"/>
                  </a:lnTo>
                  <a:lnTo>
                    <a:pt x="104470" y="67449"/>
                  </a:lnTo>
                  <a:lnTo>
                    <a:pt x="104521" y="63906"/>
                  </a:lnTo>
                  <a:lnTo>
                    <a:pt x="104521" y="63766"/>
                  </a:lnTo>
                  <a:lnTo>
                    <a:pt x="104533" y="63627"/>
                  </a:lnTo>
                  <a:lnTo>
                    <a:pt x="104533" y="63487"/>
                  </a:lnTo>
                  <a:close/>
                </a:path>
                <a:path extrusionOk="0" h="133350" w="2223770">
                  <a:moveTo>
                    <a:pt x="123291" y="91541"/>
                  </a:moveTo>
                  <a:lnTo>
                    <a:pt x="119799" y="85953"/>
                  </a:lnTo>
                  <a:lnTo>
                    <a:pt x="118427" y="83756"/>
                  </a:lnTo>
                  <a:lnTo>
                    <a:pt x="102768" y="73482"/>
                  </a:lnTo>
                  <a:lnTo>
                    <a:pt x="102603" y="73482"/>
                  </a:lnTo>
                  <a:lnTo>
                    <a:pt x="94792" y="72072"/>
                  </a:lnTo>
                  <a:lnTo>
                    <a:pt x="83413" y="76733"/>
                  </a:lnTo>
                  <a:lnTo>
                    <a:pt x="73571" y="86741"/>
                  </a:lnTo>
                  <a:lnTo>
                    <a:pt x="72694" y="87223"/>
                  </a:lnTo>
                  <a:lnTo>
                    <a:pt x="70142" y="86931"/>
                  </a:lnTo>
                  <a:lnTo>
                    <a:pt x="70358" y="86931"/>
                  </a:lnTo>
                  <a:lnTo>
                    <a:pt x="64414" y="83756"/>
                  </a:lnTo>
                  <a:lnTo>
                    <a:pt x="63830" y="83413"/>
                  </a:lnTo>
                  <a:lnTo>
                    <a:pt x="46621" y="66776"/>
                  </a:lnTo>
                  <a:lnTo>
                    <a:pt x="41948" y="60045"/>
                  </a:lnTo>
                  <a:lnTo>
                    <a:pt x="40830" y="57518"/>
                  </a:lnTo>
                  <a:lnTo>
                    <a:pt x="41579" y="56019"/>
                  </a:lnTo>
                  <a:lnTo>
                    <a:pt x="52158" y="44030"/>
                  </a:lnTo>
                  <a:lnTo>
                    <a:pt x="56680" y="32486"/>
                  </a:lnTo>
                  <a:lnTo>
                    <a:pt x="54559" y="25171"/>
                  </a:lnTo>
                  <a:lnTo>
                    <a:pt x="49212" y="19011"/>
                  </a:lnTo>
                  <a:lnTo>
                    <a:pt x="48590" y="18288"/>
                  </a:lnTo>
                  <a:lnTo>
                    <a:pt x="43319" y="13258"/>
                  </a:lnTo>
                  <a:lnTo>
                    <a:pt x="37071" y="9207"/>
                  </a:lnTo>
                  <a:lnTo>
                    <a:pt x="30251" y="6807"/>
                  </a:lnTo>
                  <a:lnTo>
                    <a:pt x="23571" y="6807"/>
                  </a:lnTo>
                  <a:lnTo>
                    <a:pt x="1600" y="38735"/>
                  </a:lnTo>
                  <a:lnTo>
                    <a:pt x="0" y="50355"/>
                  </a:lnTo>
                  <a:lnTo>
                    <a:pt x="635" y="51892"/>
                  </a:lnTo>
                  <a:lnTo>
                    <a:pt x="3200" y="54444"/>
                  </a:lnTo>
                  <a:lnTo>
                    <a:pt x="4762" y="55079"/>
                  </a:lnTo>
                  <a:lnTo>
                    <a:pt x="8420" y="55079"/>
                  </a:lnTo>
                  <a:lnTo>
                    <a:pt x="9969" y="54444"/>
                  </a:lnTo>
                  <a:lnTo>
                    <a:pt x="12547" y="51892"/>
                  </a:lnTo>
                  <a:lnTo>
                    <a:pt x="13182" y="50355"/>
                  </a:lnTo>
                  <a:lnTo>
                    <a:pt x="13157" y="45478"/>
                  </a:lnTo>
                  <a:lnTo>
                    <a:pt x="15049" y="37934"/>
                  </a:lnTo>
                  <a:lnTo>
                    <a:pt x="21742" y="22834"/>
                  </a:lnTo>
                  <a:lnTo>
                    <a:pt x="25209" y="19685"/>
                  </a:lnTo>
                  <a:lnTo>
                    <a:pt x="28435" y="19011"/>
                  </a:lnTo>
                  <a:lnTo>
                    <a:pt x="34124" y="21551"/>
                  </a:lnTo>
                  <a:lnTo>
                    <a:pt x="41884" y="30492"/>
                  </a:lnTo>
                  <a:lnTo>
                    <a:pt x="42316" y="33172"/>
                  </a:lnTo>
                  <a:lnTo>
                    <a:pt x="40716" y="37274"/>
                  </a:lnTo>
                  <a:lnTo>
                    <a:pt x="28752" y="50825"/>
                  </a:lnTo>
                  <a:lnTo>
                    <a:pt x="27012" y="58534"/>
                  </a:lnTo>
                  <a:lnTo>
                    <a:pt x="52743" y="90284"/>
                  </a:lnTo>
                  <a:lnTo>
                    <a:pt x="72948" y="100177"/>
                  </a:lnTo>
                  <a:lnTo>
                    <a:pt x="78663" y="100177"/>
                  </a:lnTo>
                  <a:lnTo>
                    <a:pt x="90970" y="87655"/>
                  </a:lnTo>
                  <a:lnTo>
                    <a:pt x="92011" y="87223"/>
                  </a:lnTo>
                  <a:lnTo>
                    <a:pt x="95123" y="85953"/>
                  </a:lnTo>
                  <a:lnTo>
                    <a:pt x="98831" y="86436"/>
                  </a:lnTo>
                  <a:lnTo>
                    <a:pt x="107340" y="92024"/>
                  </a:lnTo>
                  <a:lnTo>
                    <a:pt x="110147" y="95986"/>
                  </a:lnTo>
                  <a:lnTo>
                    <a:pt x="110147" y="99263"/>
                  </a:lnTo>
                  <a:lnTo>
                    <a:pt x="107657" y="104241"/>
                  </a:lnTo>
                  <a:lnTo>
                    <a:pt x="100507" y="109601"/>
                  </a:lnTo>
                  <a:lnTo>
                    <a:pt x="89166" y="113893"/>
                  </a:lnTo>
                  <a:lnTo>
                    <a:pt x="74079" y="115722"/>
                  </a:lnTo>
                  <a:lnTo>
                    <a:pt x="59613" y="111607"/>
                  </a:lnTo>
                  <a:lnTo>
                    <a:pt x="42265" y="102196"/>
                  </a:lnTo>
                  <a:lnTo>
                    <a:pt x="26136" y="86931"/>
                  </a:lnTo>
                  <a:lnTo>
                    <a:pt x="26047" y="86741"/>
                  </a:lnTo>
                  <a:lnTo>
                    <a:pt x="15328" y="65265"/>
                  </a:lnTo>
                  <a:lnTo>
                    <a:pt x="9042" y="60261"/>
                  </a:lnTo>
                  <a:lnTo>
                    <a:pt x="5537" y="61175"/>
                  </a:lnTo>
                  <a:lnTo>
                    <a:pt x="4203" y="62179"/>
                  </a:lnTo>
                  <a:lnTo>
                    <a:pt x="2387" y="65265"/>
                  </a:lnTo>
                  <a:lnTo>
                    <a:pt x="2184" y="66776"/>
                  </a:lnTo>
                  <a:lnTo>
                    <a:pt x="2628" y="68630"/>
                  </a:lnTo>
                  <a:lnTo>
                    <a:pt x="25222" y="105067"/>
                  </a:lnTo>
                  <a:lnTo>
                    <a:pt x="63296" y="126606"/>
                  </a:lnTo>
                  <a:lnTo>
                    <a:pt x="72809" y="128600"/>
                  </a:lnTo>
                  <a:lnTo>
                    <a:pt x="74091" y="128600"/>
                  </a:lnTo>
                  <a:lnTo>
                    <a:pt x="113411" y="115722"/>
                  </a:lnTo>
                  <a:lnTo>
                    <a:pt x="123291" y="99263"/>
                  </a:lnTo>
                  <a:lnTo>
                    <a:pt x="123291" y="91541"/>
                  </a:lnTo>
                  <a:close/>
                </a:path>
                <a:path extrusionOk="0" h="133350" w="2223770">
                  <a:moveTo>
                    <a:pt x="123825" y="63487"/>
                  </a:moveTo>
                  <a:lnTo>
                    <a:pt x="119176" y="40906"/>
                  </a:lnTo>
                  <a:lnTo>
                    <a:pt x="106527" y="22453"/>
                  </a:lnTo>
                  <a:lnTo>
                    <a:pt x="87769" y="10007"/>
                  </a:lnTo>
                  <a:lnTo>
                    <a:pt x="64820" y="5435"/>
                  </a:lnTo>
                  <a:lnTo>
                    <a:pt x="62801" y="5473"/>
                  </a:lnTo>
                  <a:lnTo>
                    <a:pt x="61277" y="6121"/>
                  </a:lnTo>
                  <a:lnTo>
                    <a:pt x="58788" y="8636"/>
                  </a:lnTo>
                  <a:lnTo>
                    <a:pt x="58153" y="10147"/>
                  </a:lnTo>
                  <a:lnTo>
                    <a:pt x="58153" y="15532"/>
                  </a:lnTo>
                  <a:lnTo>
                    <a:pt x="61226" y="18491"/>
                  </a:lnTo>
                  <a:lnTo>
                    <a:pt x="64909" y="18376"/>
                  </a:lnTo>
                  <a:lnTo>
                    <a:pt x="82715" y="21945"/>
                  </a:lnTo>
                  <a:lnTo>
                    <a:pt x="97256" y="31623"/>
                  </a:lnTo>
                  <a:lnTo>
                    <a:pt x="107073" y="45961"/>
                  </a:lnTo>
                  <a:lnTo>
                    <a:pt x="110680" y="63487"/>
                  </a:lnTo>
                  <a:lnTo>
                    <a:pt x="110680" y="65278"/>
                  </a:lnTo>
                  <a:lnTo>
                    <a:pt x="111315" y="66802"/>
                  </a:lnTo>
                  <a:lnTo>
                    <a:pt x="113880" y="69329"/>
                  </a:lnTo>
                  <a:lnTo>
                    <a:pt x="115430" y="69951"/>
                  </a:lnTo>
                  <a:lnTo>
                    <a:pt x="117246" y="69951"/>
                  </a:lnTo>
                  <a:lnTo>
                    <a:pt x="119062" y="69951"/>
                  </a:lnTo>
                  <a:lnTo>
                    <a:pt x="120611" y="69329"/>
                  </a:lnTo>
                  <a:lnTo>
                    <a:pt x="123177" y="66802"/>
                  </a:lnTo>
                  <a:lnTo>
                    <a:pt x="123825" y="65278"/>
                  </a:lnTo>
                  <a:lnTo>
                    <a:pt x="123825" y="63487"/>
                  </a:lnTo>
                  <a:close/>
                </a:path>
                <a:path extrusionOk="0" h="133350" w="2223770">
                  <a:moveTo>
                    <a:pt x="2200224" y="45618"/>
                  </a:moveTo>
                  <a:lnTo>
                    <a:pt x="2197912" y="34721"/>
                  </a:lnTo>
                  <a:lnTo>
                    <a:pt x="2197354" y="33464"/>
                  </a:lnTo>
                  <a:lnTo>
                    <a:pt x="2196427" y="32575"/>
                  </a:lnTo>
                  <a:lnTo>
                    <a:pt x="2193823" y="31546"/>
                  </a:lnTo>
                  <a:lnTo>
                    <a:pt x="2192515" y="31572"/>
                  </a:lnTo>
                  <a:lnTo>
                    <a:pt x="2189937" y="32651"/>
                  </a:lnTo>
                  <a:lnTo>
                    <a:pt x="2189035" y="33566"/>
                  </a:lnTo>
                  <a:lnTo>
                    <a:pt x="2187981" y="36118"/>
                  </a:lnTo>
                  <a:lnTo>
                    <a:pt x="2188006" y="37388"/>
                  </a:lnTo>
                  <a:lnTo>
                    <a:pt x="2188553" y="38658"/>
                  </a:lnTo>
                  <a:lnTo>
                    <a:pt x="2190051" y="45681"/>
                  </a:lnTo>
                  <a:lnTo>
                    <a:pt x="2188718" y="52476"/>
                  </a:lnTo>
                  <a:lnTo>
                    <a:pt x="2184895" y="58305"/>
                  </a:lnTo>
                  <a:lnTo>
                    <a:pt x="2178888" y="62382"/>
                  </a:lnTo>
                  <a:lnTo>
                    <a:pt x="2171725" y="63842"/>
                  </a:lnTo>
                  <a:lnTo>
                    <a:pt x="2164778" y="62547"/>
                  </a:lnTo>
                  <a:lnTo>
                    <a:pt x="2158835" y="58801"/>
                  </a:lnTo>
                  <a:lnTo>
                    <a:pt x="2154682" y="52895"/>
                  </a:lnTo>
                  <a:lnTo>
                    <a:pt x="2153183" y="45885"/>
                  </a:lnTo>
                  <a:lnTo>
                    <a:pt x="2154504" y="39077"/>
                  </a:lnTo>
                  <a:lnTo>
                    <a:pt x="2158339" y="33261"/>
                  </a:lnTo>
                  <a:lnTo>
                    <a:pt x="2164346" y="29184"/>
                  </a:lnTo>
                  <a:lnTo>
                    <a:pt x="2169757" y="26898"/>
                  </a:lnTo>
                  <a:lnTo>
                    <a:pt x="2175052" y="27114"/>
                  </a:lnTo>
                  <a:lnTo>
                    <a:pt x="2180247" y="29819"/>
                  </a:lnTo>
                  <a:lnTo>
                    <a:pt x="2181491" y="30467"/>
                  </a:lnTo>
                  <a:lnTo>
                    <a:pt x="2172779" y="17754"/>
                  </a:lnTo>
                  <a:lnTo>
                    <a:pt x="2166480" y="18186"/>
                  </a:lnTo>
                  <a:lnTo>
                    <a:pt x="2160333" y="20015"/>
                  </a:lnTo>
                  <a:lnTo>
                    <a:pt x="2150999" y="26339"/>
                  </a:lnTo>
                  <a:lnTo>
                    <a:pt x="2145055" y="35382"/>
                  </a:lnTo>
                  <a:lnTo>
                    <a:pt x="2142998" y="45935"/>
                  </a:lnTo>
                  <a:lnTo>
                    <a:pt x="2145322" y="56832"/>
                  </a:lnTo>
                  <a:lnTo>
                    <a:pt x="2149830" y="63969"/>
                  </a:lnTo>
                  <a:lnTo>
                    <a:pt x="2156066" y="69303"/>
                  </a:lnTo>
                  <a:lnTo>
                    <a:pt x="2163508" y="72656"/>
                  </a:lnTo>
                  <a:lnTo>
                    <a:pt x="2171662" y="73812"/>
                  </a:lnTo>
                  <a:lnTo>
                    <a:pt x="2175560" y="73812"/>
                  </a:lnTo>
                  <a:lnTo>
                    <a:pt x="2179307" y="73063"/>
                  </a:lnTo>
                  <a:lnTo>
                    <a:pt x="2182901" y="71551"/>
                  </a:lnTo>
                  <a:lnTo>
                    <a:pt x="2192236" y="65227"/>
                  </a:lnTo>
                  <a:lnTo>
                    <a:pt x="2198179" y="56184"/>
                  </a:lnTo>
                  <a:lnTo>
                    <a:pt x="2200224" y="45618"/>
                  </a:lnTo>
                  <a:close/>
                </a:path>
                <a:path extrusionOk="0" h="133350" w="2223770">
                  <a:moveTo>
                    <a:pt x="2223668" y="51320"/>
                  </a:moveTo>
                  <a:lnTo>
                    <a:pt x="2219541" y="31356"/>
                  </a:lnTo>
                  <a:lnTo>
                    <a:pt x="2208314" y="15049"/>
                  </a:lnTo>
                  <a:lnTo>
                    <a:pt x="2191664" y="4038"/>
                  </a:lnTo>
                  <a:lnTo>
                    <a:pt x="2171293" y="0"/>
                  </a:lnTo>
                  <a:lnTo>
                    <a:pt x="2150922" y="4038"/>
                  </a:lnTo>
                  <a:lnTo>
                    <a:pt x="2134273" y="15049"/>
                  </a:lnTo>
                  <a:lnTo>
                    <a:pt x="2123046" y="31356"/>
                  </a:lnTo>
                  <a:lnTo>
                    <a:pt x="2118918" y="51320"/>
                  </a:lnTo>
                  <a:lnTo>
                    <a:pt x="2125192" y="73240"/>
                  </a:lnTo>
                  <a:lnTo>
                    <a:pt x="2153386" y="111785"/>
                  </a:lnTo>
                  <a:lnTo>
                    <a:pt x="2162835" y="120713"/>
                  </a:lnTo>
                  <a:lnTo>
                    <a:pt x="2165654" y="120700"/>
                  </a:lnTo>
                  <a:lnTo>
                    <a:pt x="2167763" y="112128"/>
                  </a:lnTo>
                  <a:lnTo>
                    <a:pt x="2157196" y="100965"/>
                  </a:lnTo>
                  <a:lnTo>
                    <a:pt x="2144407" y="85064"/>
                  </a:lnTo>
                  <a:lnTo>
                    <a:pt x="2133625" y="67487"/>
                  </a:lnTo>
                  <a:lnTo>
                    <a:pt x="2129104" y="51320"/>
                  </a:lnTo>
                  <a:lnTo>
                    <a:pt x="2132419" y="35242"/>
                  </a:lnTo>
                  <a:lnTo>
                    <a:pt x="2141474" y="22098"/>
                  </a:lnTo>
                  <a:lnTo>
                    <a:pt x="2154885" y="13220"/>
                  </a:lnTo>
                  <a:lnTo>
                    <a:pt x="2171293" y="9969"/>
                  </a:lnTo>
                  <a:lnTo>
                    <a:pt x="2187702" y="13220"/>
                  </a:lnTo>
                  <a:lnTo>
                    <a:pt x="2201113" y="22098"/>
                  </a:lnTo>
                  <a:lnTo>
                    <a:pt x="2210168" y="35242"/>
                  </a:lnTo>
                  <a:lnTo>
                    <a:pt x="2213483" y="51320"/>
                  </a:lnTo>
                  <a:lnTo>
                    <a:pt x="2208276" y="69088"/>
                  </a:lnTo>
                  <a:lnTo>
                    <a:pt x="2195893" y="90271"/>
                  </a:lnTo>
                  <a:lnTo>
                    <a:pt x="2181187" y="110413"/>
                  </a:lnTo>
                  <a:lnTo>
                    <a:pt x="2169020" y="125082"/>
                  </a:lnTo>
                  <a:lnTo>
                    <a:pt x="2167585" y="126695"/>
                  </a:lnTo>
                  <a:lnTo>
                    <a:pt x="2167318" y="128473"/>
                  </a:lnTo>
                  <a:lnTo>
                    <a:pt x="2169134" y="132372"/>
                  </a:lnTo>
                  <a:lnTo>
                    <a:pt x="2170671" y="133337"/>
                  </a:lnTo>
                  <a:lnTo>
                    <a:pt x="2172855" y="133350"/>
                  </a:lnTo>
                  <a:lnTo>
                    <a:pt x="2174405" y="133350"/>
                  </a:lnTo>
                  <a:lnTo>
                    <a:pt x="2199894" y="102285"/>
                  </a:lnTo>
                  <a:lnTo>
                    <a:pt x="2222169" y="61074"/>
                  </a:lnTo>
                  <a:lnTo>
                    <a:pt x="2223668" y="5132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 name="Google Shape;48;p7"/>
            <p:cNvPicPr preferRelativeResize="0"/>
            <p:nvPr/>
          </p:nvPicPr>
          <p:blipFill rotWithShape="1">
            <a:blip r:embed="rId4">
              <a:alphaModFix/>
            </a:blip>
            <a:srcRect b="0" l="0" r="0" t="0"/>
            <a:stretch/>
          </p:blipFill>
          <p:spPr>
            <a:xfrm>
              <a:off x="7595711" y="8765114"/>
              <a:ext cx="123827" cy="123820"/>
            </a:xfrm>
            <a:prstGeom prst="rect">
              <a:avLst/>
            </a:prstGeom>
            <a:noFill/>
            <a:ln>
              <a:noFill/>
            </a:ln>
          </p:spPr>
        </p:pic>
      </p:grpSp>
      <p:sp>
        <p:nvSpPr>
          <p:cNvPr id="49" name="Google Shape;49;p7"/>
          <p:cNvSpPr txBox="1"/>
          <p:nvPr>
            <p:ph type="title"/>
          </p:nvPr>
        </p:nvSpPr>
        <p:spPr>
          <a:xfrm>
            <a:off x="1179065" y="1149703"/>
            <a:ext cx="11085195" cy="3246120"/>
          </a:xfrm>
          <a:prstGeom prst="rect">
            <a:avLst/>
          </a:prstGeom>
          <a:noFill/>
          <a:ln>
            <a:noFill/>
          </a:ln>
        </p:spPr>
        <p:txBody>
          <a:bodyPr anchorCtr="0" anchor="t" bIns="0" lIns="0" spcFirstLastPara="1" rIns="0" wrap="square" tIns="170800">
            <a:spAutoFit/>
          </a:bodyPr>
          <a:lstStyle/>
          <a:p>
            <a:pPr indent="0" lvl="0" marL="12700" rtl="0" algn="l">
              <a:lnSpc>
                <a:spcPct val="100000"/>
              </a:lnSpc>
              <a:spcBef>
                <a:spcPts val="0"/>
              </a:spcBef>
              <a:spcAft>
                <a:spcPts val="0"/>
              </a:spcAft>
              <a:buSzPts val="1400"/>
              <a:buNone/>
            </a:pPr>
            <a:r>
              <a:rPr lang="en-US" sz="6000"/>
              <a:t>Your Custom</a:t>
            </a:r>
            <a:endParaRPr sz="6000"/>
          </a:p>
          <a:p>
            <a:pPr indent="0" lvl="0" marL="12700" marR="5080" rtl="0" algn="l">
              <a:lnSpc>
                <a:spcPct val="117400"/>
              </a:lnSpc>
              <a:spcBef>
                <a:spcPts val="0"/>
              </a:spcBef>
              <a:spcAft>
                <a:spcPts val="0"/>
              </a:spcAft>
              <a:buSzPts val="1400"/>
              <a:buNone/>
            </a:pPr>
            <a:r>
              <a:rPr lang="en-US" sz="6000"/>
              <a:t>{{service_selected}} Growth Proposal.</a:t>
            </a:r>
            <a:endParaRPr sz="6000"/>
          </a:p>
        </p:txBody>
      </p:sp>
      <p:sp>
        <p:nvSpPr>
          <p:cNvPr id="50" name="Google Shape;50;p7"/>
          <p:cNvSpPr txBox="1"/>
          <p:nvPr/>
        </p:nvSpPr>
        <p:spPr>
          <a:xfrm>
            <a:off x="3837197" y="8688520"/>
            <a:ext cx="4733290" cy="2844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ahoma"/>
                <a:ea typeface="Tahoma"/>
                <a:cs typeface="Tahoma"/>
                <a:sym typeface="Tahoma"/>
              </a:rPr>
              <a:t>7901 4</a:t>
            </a:r>
            <a:r>
              <a:rPr b="0" baseline="30000" i="0" lang="en-US" sz="1500" u="none" cap="none" strike="noStrike">
                <a:solidFill>
                  <a:srgbClr val="000000"/>
                </a:solidFill>
                <a:latin typeface="Tahoma"/>
                <a:ea typeface="Tahoma"/>
                <a:cs typeface="Tahoma"/>
                <a:sym typeface="Tahoma"/>
              </a:rPr>
              <a:t>th </a:t>
            </a:r>
            <a:r>
              <a:rPr b="0" i="0" lang="en-US" sz="1700" u="none" cap="none" strike="noStrike">
                <a:solidFill>
                  <a:srgbClr val="000000"/>
                </a:solidFill>
                <a:latin typeface="Tahoma"/>
                <a:ea typeface="Tahoma"/>
                <a:cs typeface="Tahoma"/>
                <a:sym typeface="Tahoma"/>
              </a:rPr>
              <a:t>ST N 23948 ST Petersburg, Fl 33702</a:t>
            </a:r>
            <a:endParaRPr b="0" i="0" sz="1700" u="none" cap="none" strike="noStrike">
              <a:solidFill>
                <a:srgbClr val="000000"/>
              </a:solidFill>
              <a:latin typeface="Tahoma"/>
              <a:ea typeface="Tahoma"/>
              <a:cs typeface="Tahoma"/>
              <a:sym typeface="Tahoma"/>
            </a:endParaRPr>
          </a:p>
        </p:txBody>
      </p:sp>
      <p:sp>
        <p:nvSpPr>
          <p:cNvPr id="51" name="Google Shape;51;p7"/>
          <p:cNvSpPr txBox="1"/>
          <p:nvPr/>
        </p:nvSpPr>
        <p:spPr>
          <a:xfrm>
            <a:off x="1745919" y="8688520"/>
            <a:ext cx="1694180" cy="2844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ahoma"/>
                <a:ea typeface="Tahoma"/>
                <a:cs typeface="Tahoma"/>
                <a:sym typeface="Tahoma"/>
              </a:rPr>
              <a:t>+1 786 735 2988</a:t>
            </a:r>
            <a:endParaRPr b="0" i="0" sz="1700" u="none" cap="none" strike="noStrike">
              <a:solidFill>
                <a:srgbClr val="000000"/>
              </a:solidFill>
              <a:latin typeface="Tahoma"/>
              <a:ea typeface="Tahoma"/>
              <a:cs typeface="Tahoma"/>
              <a:sym typeface="Tahoma"/>
            </a:endParaRPr>
          </a:p>
        </p:txBody>
      </p:sp>
      <p:sp>
        <p:nvSpPr>
          <p:cNvPr id="52" name="Google Shape;52;p7"/>
          <p:cNvSpPr txBox="1"/>
          <p:nvPr/>
        </p:nvSpPr>
        <p:spPr>
          <a:xfrm>
            <a:off x="9131300" y="8688520"/>
            <a:ext cx="4153535" cy="2844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700"/>
              <a:buFont typeface="Arial"/>
              <a:buNone/>
            </a:pPr>
            <a:r>
              <a:rPr b="0" i="0" lang="en-US" sz="1700" u="sng" cap="none" strike="noStrike">
                <a:solidFill>
                  <a:schemeClr val="hlink"/>
                </a:solidFill>
                <a:latin typeface="Tahoma"/>
                <a:ea typeface="Tahoma"/>
                <a:cs typeface="Tahoma"/>
                <a:sym typeface="Tahoma"/>
                <a:hlinkClick r:id="rId5"/>
              </a:rPr>
              <a:t>www.DigitalDreamWorksAgency.com</a:t>
            </a:r>
            <a:endParaRPr b="0" i="0" sz="1700" u="none" cap="none" strike="noStrike">
              <a:solidFill>
                <a:srgbClr val="000000"/>
              </a:solidFill>
              <a:latin typeface="Tahoma"/>
              <a:ea typeface="Tahoma"/>
              <a:cs typeface="Tahoma"/>
              <a:sym typeface="Tahoma"/>
            </a:endParaRPr>
          </a:p>
        </p:txBody>
      </p:sp>
      <p:sp>
        <p:nvSpPr>
          <p:cNvPr id="53" name="Google Shape;53;p7"/>
          <p:cNvSpPr txBox="1"/>
          <p:nvPr/>
        </p:nvSpPr>
        <p:spPr>
          <a:xfrm>
            <a:off x="1455339" y="656771"/>
            <a:ext cx="3320415" cy="32385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000000"/>
                </a:solidFill>
                <a:latin typeface="Tahoma"/>
                <a:ea typeface="Tahoma"/>
                <a:cs typeface="Tahoma"/>
                <a:sym typeface="Tahoma"/>
              </a:rPr>
              <a:t>Digital Dream Works LLC</a:t>
            </a:r>
            <a:endParaRPr b="0" i="0" sz="1950" u="none" cap="none" strike="noStrike">
              <a:solidFill>
                <a:srgbClr val="000000"/>
              </a:solidFill>
              <a:latin typeface="Tahoma"/>
              <a:ea typeface="Tahoma"/>
              <a:cs typeface="Tahoma"/>
              <a:sym typeface="Tahoma"/>
            </a:endParaRPr>
          </a:p>
        </p:txBody>
      </p:sp>
      <p:sp>
        <p:nvSpPr>
          <p:cNvPr id="54" name="Google Shape;54;p7"/>
          <p:cNvSpPr txBox="1"/>
          <p:nvPr/>
        </p:nvSpPr>
        <p:spPr>
          <a:xfrm>
            <a:off x="5921029" y="681536"/>
            <a:ext cx="1788795" cy="32385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sp>
        <p:nvSpPr>
          <p:cNvPr id="55" name="Google Shape;55;p7"/>
          <p:cNvSpPr txBox="1"/>
          <p:nvPr/>
        </p:nvSpPr>
        <p:spPr>
          <a:xfrm>
            <a:off x="13072941" y="6129497"/>
            <a:ext cx="3158490" cy="27813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650"/>
              <a:buFont typeface="Arial"/>
              <a:buNone/>
            </a:pPr>
            <a:r>
              <a:rPr b="1" i="0" lang="en-US" sz="1650" u="none" cap="none" strike="noStrike">
                <a:solidFill>
                  <a:srgbClr val="000000"/>
                </a:solidFill>
                <a:latin typeface="Tahoma"/>
                <a:ea typeface="Tahoma"/>
                <a:cs typeface="Tahoma"/>
                <a:sym typeface="Tahoma"/>
              </a:rPr>
              <a:t>Prepared for {{client_name}}</a:t>
            </a:r>
            <a:endParaRPr b="0" i="0" sz="1650" u="none" cap="none" strike="noStrike">
              <a:solidFill>
                <a:srgbClr val="000000"/>
              </a:solidFill>
              <a:latin typeface="Tahoma"/>
              <a:ea typeface="Tahoma"/>
              <a:cs typeface="Tahoma"/>
              <a:sym typeface="Tahoma"/>
            </a:endParaRPr>
          </a:p>
        </p:txBody>
      </p:sp>
      <p:sp>
        <p:nvSpPr>
          <p:cNvPr id="56" name="Google Shape;56;p7"/>
          <p:cNvSpPr txBox="1"/>
          <p:nvPr/>
        </p:nvSpPr>
        <p:spPr>
          <a:xfrm>
            <a:off x="1308905" y="4522643"/>
            <a:ext cx="4709795" cy="1968500"/>
          </a:xfrm>
          <a:prstGeom prst="rect">
            <a:avLst/>
          </a:prstGeom>
          <a:noFill/>
          <a:ln>
            <a:noFill/>
          </a:ln>
        </p:spPr>
        <p:txBody>
          <a:bodyPr anchorCtr="0" anchor="t" bIns="0" lIns="0" spcFirstLastPara="1" rIns="0" wrap="square" tIns="12700">
            <a:spAutoFit/>
          </a:bodyPr>
          <a:lstStyle/>
          <a:p>
            <a:pPr indent="0" lvl="0" marL="12700" marR="5080" rtl="0" algn="l">
              <a:lnSpc>
                <a:spcPct val="115900"/>
              </a:lnSpc>
              <a:spcBef>
                <a:spcPts val="0"/>
              </a:spcBef>
              <a:spcAft>
                <a:spcPts val="0"/>
              </a:spcAft>
              <a:buClr>
                <a:srgbClr val="000000"/>
              </a:buClr>
              <a:buSzPts val="2750"/>
              <a:buFont typeface="Arial"/>
              <a:buNone/>
            </a:pPr>
            <a:r>
              <a:rPr b="1" i="0" lang="en-US" sz="2750" u="none" cap="none" strike="noStrike">
                <a:solidFill>
                  <a:srgbClr val="000000"/>
                </a:solidFill>
                <a:latin typeface="Tahoma"/>
                <a:ea typeface="Tahoma"/>
                <a:cs typeface="Tahoma"/>
                <a:sym typeface="Tahoma"/>
              </a:rPr>
              <a:t>We merge creativity with code to build intelligent systems for modern brands.</a:t>
            </a:r>
            <a:endParaRPr b="0" i="0" sz="2750" u="none" cap="none" strike="noStrike">
              <a:solidFill>
                <a:srgbClr val="000000"/>
              </a:solidFill>
              <a:latin typeface="Tahoma"/>
              <a:ea typeface="Tahoma"/>
              <a:cs typeface="Tahoma"/>
              <a:sym typeface="Tahoma"/>
            </a:endParaRPr>
          </a:p>
        </p:txBody>
      </p:sp>
      <p:grpSp>
        <p:nvGrpSpPr>
          <p:cNvPr id="57" name="Google Shape;57;p7"/>
          <p:cNvGrpSpPr/>
          <p:nvPr/>
        </p:nvGrpSpPr>
        <p:grpSpPr>
          <a:xfrm>
            <a:off x="8778485" y="0"/>
            <a:ext cx="9509514" cy="8912787"/>
            <a:chOff x="8778485" y="0"/>
            <a:chExt cx="9509514" cy="8912787"/>
          </a:xfrm>
        </p:grpSpPr>
        <p:pic>
          <p:nvPicPr>
            <p:cNvPr id="58" name="Google Shape;58;p7"/>
            <p:cNvPicPr preferRelativeResize="0"/>
            <p:nvPr/>
          </p:nvPicPr>
          <p:blipFill rotWithShape="1">
            <a:blip r:embed="rId6">
              <a:alphaModFix/>
            </a:blip>
            <a:srcRect b="0" l="0" r="0" t="0"/>
            <a:stretch/>
          </p:blipFill>
          <p:spPr>
            <a:xfrm>
              <a:off x="15700012" y="0"/>
              <a:ext cx="2587987" cy="2407421"/>
            </a:xfrm>
            <a:prstGeom prst="rect">
              <a:avLst/>
            </a:prstGeom>
            <a:noFill/>
            <a:ln>
              <a:noFill/>
            </a:ln>
          </p:spPr>
        </p:pic>
        <p:pic>
          <p:nvPicPr>
            <p:cNvPr id="59" name="Google Shape;59;p7"/>
            <p:cNvPicPr preferRelativeResize="0"/>
            <p:nvPr/>
          </p:nvPicPr>
          <p:blipFill rotWithShape="1">
            <a:blip r:embed="rId7">
              <a:alphaModFix/>
            </a:blip>
            <a:srcRect b="0" l="0" r="0" t="0"/>
            <a:stretch/>
          </p:blipFill>
          <p:spPr>
            <a:xfrm>
              <a:off x="8778485" y="8760393"/>
              <a:ext cx="152402" cy="152394"/>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3">
            <a:alphaModFix/>
          </a:blip>
          <a:srcRect b="0" l="0" r="0" t="0"/>
          <a:stretch/>
        </p:blipFill>
        <p:spPr>
          <a:xfrm>
            <a:off x="1371235" y="2254413"/>
            <a:ext cx="6267449" cy="8032586"/>
          </a:xfrm>
          <a:prstGeom prst="rect">
            <a:avLst/>
          </a:prstGeom>
          <a:noFill/>
          <a:ln>
            <a:noFill/>
          </a:ln>
        </p:spPr>
      </p:pic>
      <p:sp>
        <p:nvSpPr>
          <p:cNvPr id="65" name="Google Shape;65;p8"/>
          <p:cNvSpPr txBox="1"/>
          <p:nvPr/>
        </p:nvSpPr>
        <p:spPr>
          <a:xfrm>
            <a:off x="8833232" y="6269713"/>
            <a:ext cx="8493125" cy="3333115"/>
          </a:xfrm>
          <a:prstGeom prst="rect">
            <a:avLst/>
          </a:prstGeom>
          <a:noFill/>
          <a:ln>
            <a:noFill/>
          </a:ln>
        </p:spPr>
        <p:txBody>
          <a:bodyPr anchorCtr="0" anchor="t" bIns="0" lIns="0" spcFirstLastPara="1" rIns="0" wrap="square" tIns="12700">
            <a:spAutoFit/>
          </a:bodyPr>
          <a:lstStyle/>
          <a:p>
            <a:pPr indent="0" lvl="0" marL="12700" marR="5080" rtl="0" algn="l">
              <a:lnSpc>
                <a:spcPct val="114199"/>
              </a:lnSpc>
              <a:spcBef>
                <a:spcPts val="0"/>
              </a:spcBef>
              <a:spcAft>
                <a:spcPts val="0"/>
              </a:spcAft>
              <a:buClr>
                <a:srgbClr val="000000"/>
              </a:buClr>
              <a:buSzPts val="1900"/>
              <a:buFont typeface="Arial"/>
              <a:buNone/>
            </a:pPr>
            <a:r>
              <a:rPr b="0" i="0" lang="en-US" sz="1900" u="none" cap="none" strike="noStrike">
                <a:solidFill>
                  <a:srgbClr val="000000"/>
                </a:solidFill>
                <a:latin typeface="Tahoma"/>
                <a:ea typeface="Tahoma"/>
                <a:cs typeface="Tahoma"/>
                <a:sym typeface="Tahoma"/>
              </a:rPr>
              <a:t>Digital Dream Works LLC is an AI-native growth studio that combines creative strategy, automation, and software engineering to build smarter businesses. We design and deploy intelligent systems from AI-powered marketing funnels and SEO automation to custom software and performance dashboards. That help brands grow faster with less effort. Our core belief is that creativity should scale, not slow down. Headquartered in the United States with operations in Europe and UK, Digital Dream Works LLC partners with ambitious companies worldwide to engineer growth through technology, precision, and design excellence.</a:t>
            </a:r>
            <a:endParaRPr b="0" i="0" sz="1900" u="none" cap="none" strike="noStrike">
              <a:solidFill>
                <a:srgbClr val="000000"/>
              </a:solidFill>
              <a:latin typeface="Tahoma"/>
              <a:ea typeface="Tahoma"/>
              <a:cs typeface="Tahoma"/>
              <a:sym typeface="Tahoma"/>
            </a:endParaRPr>
          </a:p>
        </p:txBody>
      </p:sp>
      <p:sp>
        <p:nvSpPr>
          <p:cNvPr id="66" name="Google Shape;66;p8"/>
          <p:cNvSpPr txBox="1"/>
          <p:nvPr/>
        </p:nvSpPr>
        <p:spPr>
          <a:xfrm>
            <a:off x="8833232" y="2191409"/>
            <a:ext cx="6537325" cy="2842895"/>
          </a:xfrm>
          <a:prstGeom prst="rect">
            <a:avLst/>
          </a:prstGeom>
          <a:noFill/>
          <a:ln>
            <a:noFill/>
          </a:ln>
        </p:spPr>
        <p:txBody>
          <a:bodyPr anchorCtr="0" anchor="t" bIns="0" lIns="0" spcFirstLastPara="1" rIns="0" wrap="square" tIns="63500">
            <a:spAutoFit/>
          </a:bodyPr>
          <a:lstStyle/>
          <a:p>
            <a:pPr indent="0" lvl="0" marL="12700" marR="5080" rtl="0" algn="l">
              <a:lnSpc>
                <a:spcPct val="117112"/>
              </a:lnSpc>
              <a:spcBef>
                <a:spcPts val="0"/>
              </a:spcBef>
              <a:spcAft>
                <a:spcPts val="0"/>
              </a:spcAft>
              <a:buClr>
                <a:srgbClr val="000000"/>
              </a:buClr>
              <a:buSzPts val="9350"/>
              <a:buFont typeface="Arial"/>
              <a:buNone/>
            </a:pPr>
            <a:r>
              <a:rPr b="1" i="0" lang="en-US" sz="9350" u="none" cap="none" strike="noStrike">
                <a:solidFill>
                  <a:srgbClr val="000000"/>
                </a:solidFill>
                <a:latin typeface="Tahoma"/>
                <a:ea typeface="Tahoma"/>
                <a:cs typeface="Tahoma"/>
                <a:sym typeface="Tahoma"/>
              </a:rPr>
              <a:t>About Our Company</a:t>
            </a:r>
            <a:endParaRPr b="0" i="0" sz="9350" u="none" cap="none" strike="noStrike">
              <a:solidFill>
                <a:srgbClr val="000000"/>
              </a:solidFill>
              <a:latin typeface="Tahoma"/>
              <a:ea typeface="Tahoma"/>
              <a:cs typeface="Tahoma"/>
              <a:sym typeface="Tahoma"/>
            </a:endParaRPr>
          </a:p>
        </p:txBody>
      </p:sp>
      <p:grpSp>
        <p:nvGrpSpPr>
          <p:cNvPr id="67" name="Google Shape;67;p8"/>
          <p:cNvGrpSpPr/>
          <p:nvPr/>
        </p:nvGrpSpPr>
        <p:grpSpPr>
          <a:xfrm>
            <a:off x="11850061" y="0"/>
            <a:ext cx="6438265" cy="2017808"/>
            <a:chOff x="11850061" y="0"/>
            <a:chExt cx="6438265" cy="2017808"/>
          </a:xfrm>
        </p:grpSpPr>
        <p:sp>
          <p:nvSpPr>
            <p:cNvPr id="68" name="Google Shape;68;p8"/>
            <p:cNvSpPr/>
            <p:nvPr/>
          </p:nvSpPr>
          <p:spPr>
            <a:xfrm>
              <a:off x="11850061" y="1377525"/>
              <a:ext cx="6438265" cy="0"/>
            </a:xfrm>
            <a:custGeom>
              <a:rect b="b" l="l" r="r" t="t"/>
              <a:pathLst>
                <a:path extrusionOk="0" h="120000" w="6438265">
                  <a:moveTo>
                    <a:pt x="0" y="0"/>
                  </a:moveTo>
                  <a:lnTo>
                    <a:pt x="6437937" y="0"/>
                  </a:lnTo>
                </a:path>
              </a:pathLst>
            </a:custGeom>
            <a:noFill/>
            <a:ln cap="flat" cmpd="sng" w="28550">
              <a:solidFill>
                <a:srgbClr val="B0030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9" name="Google Shape;69;p8"/>
            <p:cNvPicPr preferRelativeResize="0"/>
            <p:nvPr/>
          </p:nvPicPr>
          <p:blipFill rotWithShape="1">
            <a:blip r:embed="rId4">
              <a:alphaModFix/>
            </a:blip>
            <a:srcRect b="0" l="0" r="0" t="0"/>
            <a:stretch/>
          </p:blipFill>
          <p:spPr>
            <a:xfrm>
              <a:off x="15806271" y="0"/>
              <a:ext cx="2481728" cy="2017808"/>
            </a:xfrm>
            <a:prstGeom prst="rect">
              <a:avLst/>
            </a:prstGeom>
            <a:noFill/>
            <a:ln>
              <a:noFill/>
            </a:ln>
          </p:spPr>
        </p:pic>
      </p:grpSp>
      <p:sp>
        <p:nvSpPr>
          <p:cNvPr id="70" name="Google Shape;70;p8"/>
          <p:cNvSpPr txBox="1"/>
          <p:nvPr>
            <p:ph type="title"/>
          </p:nvPr>
        </p:nvSpPr>
        <p:spPr>
          <a:xfrm>
            <a:off x="1455339" y="656244"/>
            <a:ext cx="3326765" cy="32448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SzPts val="1400"/>
              <a:buNone/>
            </a:pPr>
            <a:r>
              <a:rPr lang="en-US" sz="1950"/>
              <a:t>Digital Dream Works LLC</a:t>
            </a:r>
            <a:endParaRPr sz="1950"/>
          </a:p>
        </p:txBody>
      </p:sp>
      <p:sp>
        <p:nvSpPr>
          <p:cNvPr id="71" name="Google Shape;71;p8"/>
          <p:cNvSpPr txBox="1"/>
          <p:nvPr/>
        </p:nvSpPr>
        <p:spPr>
          <a:xfrm>
            <a:off x="5921029" y="681010"/>
            <a:ext cx="1791970"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pic>
        <p:nvPicPr>
          <p:cNvPr id="76" name="Google Shape;76;p9"/>
          <p:cNvPicPr preferRelativeResize="0"/>
          <p:nvPr/>
        </p:nvPicPr>
        <p:blipFill rotWithShape="1">
          <a:blip r:embed="rId3">
            <a:alphaModFix/>
          </a:blip>
          <a:srcRect b="0" l="0" r="0" t="0"/>
          <a:stretch/>
        </p:blipFill>
        <p:spPr>
          <a:xfrm>
            <a:off x="262786" y="656244"/>
            <a:ext cx="5711869" cy="7139836"/>
          </a:xfrm>
          <a:prstGeom prst="rect">
            <a:avLst/>
          </a:prstGeom>
          <a:noFill/>
          <a:ln>
            <a:noFill/>
          </a:ln>
        </p:spPr>
      </p:pic>
      <p:sp>
        <p:nvSpPr>
          <p:cNvPr id="77" name="Google Shape;77;p9"/>
          <p:cNvSpPr/>
          <p:nvPr/>
        </p:nvSpPr>
        <p:spPr>
          <a:xfrm>
            <a:off x="0" y="9705389"/>
            <a:ext cx="18288000" cy="28575"/>
          </a:xfrm>
          <a:custGeom>
            <a:rect b="b" l="l" r="r" t="t"/>
            <a:pathLst>
              <a:path extrusionOk="0" h="28575" w="18288000">
                <a:moveTo>
                  <a:pt x="0" y="28574"/>
                </a:moveTo>
                <a:lnTo>
                  <a:pt x="0" y="0"/>
                </a:lnTo>
                <a:lnTo>
                  <a:pt x="18287999" y="0"/>
                </a:lnTo>
                <a:lnTo>
                  <a:pt x="18287999" y="28574"/>
                </a:lnTo>
                <a:lnTo>
                  <a:pt x="0" y="2857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9"/>
          <p:cNvSpPr txBox="1"/>
          <p:nvPr>
            <p:ph type="title"/>
          </p:nvPr>
        </p:nvSpPr>
        <p:spPr>
          <a:xfrm>
            <a:off x="717103" y="1305446"/>
            <a:ext cx="7544434" cy="1318895"/>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SzPts val="1400"/>
              <a:buNone/>
            </a:pPr>
            <a:r>
              <a:rPr lang="en-US" sz="8450"/>
              <a:t>What we do?</a:t>
            </a:r>
            <a:endParaRPr sz="8450"/>
          </a:p>
        </p:txBody>
      </p:sp>
      <p:sp>
        <p:nvSpPr>
          <p:cNvPr id="79" name="Google Shape;79;p9"/>
          <p:cNvSpPr txBox="1"/>
          <p:nvPr/>
        </p:nvSpPr>
        <p:spPr>
          <a:xfrm>
            <a:off x="1337741" y="5991976"/>
            <a:ext cx="6263640" cy="3368675"/>
          </a:xfrm>
          <a:prstGeom prst="rect">
            <a:avLst/>
          </a:prstGeom>
          <a:noFill/>
          <a:ln>
            <a:noFill/>
          </a:ln>
        </p:spPr>
        <p:txBody>
          <a:bodyPr anchorCtr="0" anchor="t" bIns="0" lIns="0" spcFirstLastPara="1" rIns="0" wrap="square" tIns="11425">
            <a:spAutoFit/>
          </a:bodyPr>
          <a:lstStyle/>
          <a:p>
            <a:pPr indent="0" lvl="0" marL="12700" marR="5080" rtl="0" algn="l">
              <a:lnSpc>
                <a:spcPct val="116100"/>
              </a:lnSpc>
              <a:spcBef>
                <a:spcPts val="0"/>
              </a:spcBef>
              <a:spcAft>
                <a:spcPts val="0"/>
              </a:spcAft>
              <a:buClr>
                <a:srgbClr val="000000"/>
              </a:buClr>
              <a:buSzPts val="2100"/>
              <a:buFont typeface="Arial"/>
              <a:buNone/>
            </a:pPr>
            <a:r>
              <a:rPr b="0" i="0" lang="en-US" sz="2100" u="none" cap="none" strike="noStrike">
                <a:solidFill>
                  <a:srgbClr val="000000"/>
                </a:solidFill>
                <a:latin typeface="Tahoma"/>
                <a:ea typeface="Tahoma"/>
                <a:cs typeface="Tahoma"/>
                <a:sym typeface="Tahoma"/>
              </a:rPr>
              <a:t>At Digital Dream Works LLC, we design connected systems that blend creativity, data, and technology. From building world-class websites to engineering AI-powered automation, our mission is to help businesses grow smarter ,not harder. Every DDW project combines precision engineering, growth strategy, and design excellence to deliver measurable results.</a:t>
            </a:r>
            <a:endParaRPr b="0" i="0" sz="2100" u="none" cap="none" strike="noStrike">
              <a:solidFill>
                <a:srgbClr val="000000"/>
              </a:solidFill>
              <a:latin typeface="Tahoma"/>
              <a:ea typeface="Tahoma"/>
              <a:cs typeface="Tahoma"/>
              <a:sym typeface="Tahoma"/>
            </a:endParaRPr>
          </a:p>
        </p:txBody>
      </p:sp>
      <p:sp>
        <p:nvSpPr>
          <p:cNvPr id="80" name="Google Shape;80;p9"/>
          <p:cNvSpPr txBox="1"/>
          <p:nvPr/>
        </p:nvSpPr>
        <p:spPr>
          <a:xfrm>
            <a:off x="9011028" y="3732656"/>
            <a:ext cx="4107815" cy="4597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50"/>
              <a:buFont typeface="Arial"/>
              <a:buNone/>
            </a:pPr>
            <a:r>
              <a:rPr b="1" i="0" lang="en-US" sz="2850" u="none" cap="none" strike="noStrike">
                <a:solidFill>
                  <a:srgbClr val="000000"/>
                </a:solidFill>
                <a:latin typeface="Tahoma"/>
                <a:ea typeface="Tahoma"/>
                <a:cs typeface="Tahoma"/>
                <a:sym typeface="Tahoma"/>
              </a:rPr>
              <a:t>AI Marketing Systems</a:t>
            </a:r>
            <a:endParaRPr b="0" i="0" sz="2850" u="none" cap="none" strike="noStrike">
              <a:solidFill>
                <a:srgbClr val="000000"/>
              </a:solidFill>
              <a:latin typeface="Tahoma"/>
              <a:ea typeface="Tahoma"/>
              <a:cs typeface="Tahoma"/>
              <a:sym typeface="Tahoma"/>
            </a:endParaRPr>
          </a:p>
        </p:txBody>
      </p:sp>
      <p:sp>
        <p:nvSpPr>
          <p:cNvPr id="81" name="Google Shape;81;p9"/>
          <p:cNvSpPr txBox="1"/>
          <p:nvPr/>
        </p:nvSpPr>
        <p:spPr>
          <a:xfrm>
            <a:off x="9131300" y="6904520"/>
            <a:ext cx="3006090" cy="1035050"/>
          </a:xfrm>
          <a:prstGeom prst="rect">
            <a:avLst/>
          </a:prstGeom>
          <a:noFill/>
          <a:ln>
            <a:noFill/>
          </a:ln>
        </p:spPr>
        <p:txBody>
          <a:bodyPr anchorCtr="0" anchor="t" bIns="0" lIns="0" spcFirstLastPara="1" rIns="0" wrap="square" tIns="12700">
            <a:spAutoFit/>
          </a:bodyPr>
          <a:lstStyle/>
          <a:p>
            <a:pPr indent="0" lvl="0" marL="12700" marR="5080" rtl="0" algn="l">
              <a:lnSpc>
                <a:spcPct val="116199"/>
              </a:lnSpc>
              <a:spcBef>
                <a:spcPts val="0"/>
              </a:spcBef>
              <a:spcAft>
                <a:spcPts val="0"/>
              </a:spcAft>
              <a:buClr>
                <a:srgbClr val="000000"/>
              </a:buClr>
              <a:buSzPts val="2850"/>
              <a:buFont typeface="Arial"/>
              <a:buNone/>
            </a:pPr>
            <a:r>
              <a:rPr b="1" i="0" lang="en-US" sz="2850" u="none" cap="none" strike="noStrike">
                <a:solidFill>
                  <a:srgbClr val="000000"/>
                </a:solidFill>
                <a:latin typeface="Tahoma"/>
                <a:ea typeface="Tahoma"/>
                <a:cs typeface="Tahoma"/>
                <a:sym typeface="Tahoma"/>
              </a:rPr>
              <a:t>AUTOMATION &amp; INTEGRATIONS</a:t>
            </a:r>
            <a:endParaRPr b="0" i="0" sz="2850" u="none" cap="none" strike="noStrike">
              <a:solidFill>
                <a:srgbClr val="000000"/>
              </a:solidFill>
              <a:latin typeface="Tahoma"/>
              <a:ea typeface="Tahoma"/>
              <a:cs typeface="Tahoma"/>
              <a:sym typeface="Tahoma"/>
            </a:endParaRPr>
          </a:p>
        </p:txBody>
      </p:sp>
      <p:sp>
        <p:nvSpPr>
          <p:cNvPr id="82" name="Google Shape;82;p9"/>
          <p:cNvSpPr txBox="1"/>
          <p:nvPr/>
        </p:nvSpPr>
        <p:spPr>
          <a:xfrm>
            <a:off x="13660366" y="3057283"/>
            <a:ext cx="3264535" cy="1539875"/>
          </a:xfrm>
          <a:prstGeom prst="rect">
            <a:avLst/>
          </a:prstGeom>
          <a:noFill/>
          <a:ln>
            <a:noFill/>
          </a:ln>
        </p:spPr>
        <p:txBody>
          <a:bodyPr anchorCtr="0" anchor="t" bIns="0" lIns="0" spcFirstLastPara="1" rIns="0" wrap="square" tIns="12700">
            <a:spAutoFit/>
          </a:bodyPr>
          <a:lstStyle/>
          <a:p>
            <a:pPr indent="0" lvl="0" marL="12700" marR="5080" rtl="0" algn="l">
              <a:lnSpc>
                <a:spcPct val="116199"/>
              </a:lnSpc>
              <a:spcBef>
                <a:spcPts val="0"/>
              </a:spcBef>
              <a:spcAft>
                <a:spcPts val="0"/>
              </a:spcAft>
              <a:buClr>
                <a:srgbClr val="000000"/>
              </a:buClr>
              <a:buSzPts val="2850"/>
              <a:buFont typeface="Arial"/>
              <a:buNone/>
            </a:pPr>
            <a:r>
              <a:rPr b="1" i="0" lang="en-US" sz="2850" u="none" cap="none" strike="noStrike">
                <a:solidFill>
                  <a:srgbClr val="000000"/>
                </a:solidFill>
                <a:latin typeface="Tahoma"/>
                <a:ea typeface="Tahoma"/>
                <a:cs typeface="Tahoma"/>
                <a:sym typeface="Tahoma"/>
              </a:rPr>
              <a:t>Custom Software &amp; SaaS Development</a:t>
            </a:r>
            <a:endParaRPr b="0" i="0" sz="2850" u="none" cap="none" strike="noStrike">
              <a:solidFill>
                <a:srgbClr val="000000"/>
              </a:solidFill>
              <a:latin typeface="Tahoma"/>
              <a:ea typeface="Tahoma"/>
              <a:cs typeface="Tahoma"/>
              <a:sym typeface="Tahoma"/>
            </a:endParaRPr>
          </a:p>
        </p:txBody>
      </p:sp>
      <p:sp>
        <p:nvSpPr>
          <p:cNvPr id="83" name="Google Shape;83;p9"/>
          <p:cNvSpPr txBox="1"/>
          <p:nvPr/>
        </p:nvSpPr>
        <p:spPr>
          <a:xfrm>
            <a:off x="13823131" y="6652108"/>
            <a:ext cx="2418715" cy="1539875"/>
          </a:xfrm>
          <a:prstGeom prst="rect">
            <a:avLst/>
          </a:prstGeom>
          <a:noFill/>
          <a:ln>
            <a:noFill/>
          </a:ln>
        </p:spPr>
        <p:txBody>
          <a:bodyPr anchorCtr="0" anchor="t" bIns="0" lIns="0" spcFirstLastPara="1" rIns="0" wrap="square" tIns="12700">
            <a:spAutoFit/>
          </a:bodyPr>
          <a:lstStyle/>
          <a:p>
            <a:pPr indent="0" lvl="0" marL="12700" marR="5080" rtl="0" algn="just">
              <a:lnSpc>
                <a:spcPct val="116199"/>
              </a:lnSpc>
              <a:spcBef>
                <a:spcPts val="0"/>
              </a:spcBef>
              <a:spcAft>
                <a:spcPts val="0"/>
              </a:spcAft>
              <a:buClr>
                <a:srgbClr val="000000"/>
              </a:buClr>
              <a:buSzPts val="2850"/>
              <a:buFont typeface="Arial"/>
              <a:buNone/>
            </a:pPr>
            <a:r>
              <a:rPr b="1" i="0" lang="en-US" sz="2850" u="none" cap="none" strike="noStrike">
                <a:solidFill>
                  <a:srgbClr val="000000"/>
                </a:solidFill>
                <a:latin typeface="Tahoma"/>
                <a:ea typeface="Tahoma"/>
                <a:cs typeface="Tahoma"/>
                <a:sym typeface="Tahoma"/>
              </a:rPr>
              <a:t>Consulting &amp; White-Label Solutions</a:t>
            </a:r>
            <a:endParaRPr b="0" i="0" sz="2850" u="none" cap="none" strike="noStrike">
              <a:solidFill>
                <a:srgbClr val="000000"/>
              </a:solidFill>
              <a:latin typeface="Tahoma"/>
              <a:ea typeface="Tahoma"/>
              <a:cs typeface="Tahoma"/>
              <a:sym typeface="Tahoma"/>
            </a:endParaRPr>
          </a:p>
        </p:txBody>
      </p:sp>
      <p:sp>
        <p:nvSpPr>
          <p:cNvPr id="84" name="Google Shape;84;p9"/>
          <p:cNvSpPr/>
          <p:nvPr/>
        </p:nvSpPr>
        <p:spPr>
          <a:xfrm>
            <a:off x="9234892" y="4977919"/>
            <a:ext cx="1441450" cy="0"/>
          </a:xfrm>
          <a:custGeom>
            <a:rect b="b" l="l" r="r" t="t"/>
            <a:pathLst>
              <a:path extrusionOk="0" h="120000" w="1441450">
                <a:moveTo>
                  <a:pt x="0" y="0"/>
                </a:moveTo>
                <a:lnTo>
                  <a:pt x="1441094" y="0"/>
                </a:lnTo>
              </a:path>
            </a:pathLst>
          </a:custGeom>
          <a:noFill/>
          <a:ln cap="flat" cmpd="sng" w="28550">
            <a:solidFill>
              <a:srgbClr val="B0030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9"/>
          <p:cNvSpPr/>
          <p:nvPr/>
        </p:nvSpPr>
        <p:spPr>
          <a:xfrm>
            <a:off x="13668409" y="4949344"/>
            <a:ext cx="937260" cy="0"/>
          </a:xfrm>
          <a:custGeom>
            <a:rect b="b" l="l" r="r" t="t"/>
            <a:pathLst>
              <a:path extrusionOk="0" h="120000" w="937259">
                <a:moveTo>
                  <a:pt x="0" y="0"/>
                </a:moveTo>
                <a:lnTo>
                  <a:pt x="937029" y="0"/>
                </a:lnTo>
              </a:path>
            </a:pathLst>
          </a:custGeom>
          <a:noFill/>
          <a:ln cap="flat" cmpd="sng" w="28550">
            <a:solidFill>
              <a:srgbClr val="B0030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9"/>
          <p:cNvSpPr/>
          <p:nvPr/>
        </p:nvSpPr>
        <p:spPr>
          <a:xfrm>
            <a:off x="13673066" y="8522233"/>
            <a:ext cx="937260" cy="0"/>
          </a:xfrm>
          <a:custGeom>
            <a:rect b="b" l="l" r="r" t="t"/>
            <a:pathLst>
              <a:path extrusionOk="0" h="120000" w="937259">
                <a:moveTo>
                  <a:pt x="0" y="0"/>
                </a:moveTo>
                <a:lnTo>
                  <a:pt x="937029" y="0"/>
                </a:lnTo>
              </a:path>
            </a:pathLst>
          </a:custGeom>
          <a:noFill/>
          <a:ln cap="flat" cmpd="sng" w="28550">
            <a:solidFill>
              <a:srgbClr val="B0030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9"/>
          <p:cNvSpPr/>
          <p:nvPr/>
        </p:nvSpPr>
        <p:spPr>
          <a:xfrm>
            <a:off x="9202206" y="8522233"/>
            <a:ext cx="1095375" cy="0"/>
          </a:xfrm>
          <a:custGeom>
            <a:rect b="b" l="l" r="r" t="t"/>
            <a:pathLst>
              <a:path extrusionOk="0" h="120000" w="1095375">
                <a:moveTo>
                  <a:pt x="0" y="0"/>
                </a:moveTo>
                <a:lnTo>
                  <a:pt x="1095274" y="0"/>
                </a:lnTo>
              </a:path>
            </a:pathLst>
          </a:custGeom>
          <a:noFill/>
          <a:ln cap="flat" cmpd="sng" w="28550">
            <a:solidFill>
              <a:srgbClr val="B0030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 name="Google Shape;88;p9"/>
          <p:cNvGrpSpPr/>
          <p:nvPr/>
        </p:nvGrpSpPr>
        <p:grpSpPr>
          <a:xfrm>
            <a:off x="11850060" y="0"/>
            <a:ext cx="6438265" cy="2017808"/>
            <a:chOff x="11850060" y="0"/>
            <a:chExt cx="6438265" cy="2017808"/>
          </a:xfrm>
        </p:grpSpPr>
        <p:sp>
          <p:nvSpPr>
            <p:cNvPr id="89" name="Google Shape;89;p9"/>
            <p:cNvSpPr/>
            <p:nvPr/>
          </p:nvSpPr>
          <p:spPr>
            <a:xfrm>
              <a:off x="11850060" y="1306635"/>
              <a:ext cx="6438265" cy="28575"/>
            </a:xfrm>
            <a:custGeom>
              <a:rect b="b" l="l" r="r" t="t"/>
              <a:pathLst>
                <a:path extrusionOk="0" h="28575" w="6438265">
                  <a:moveTo>
                    <a:pt x="6437938" y="28574"/>
                  </a:moveTo>
                  <a:lnTo>
                    <a:pt x="0" y="28574"/>
                  </a:lnTo>
                  <a:lnTo>
                    <a:pt x="0" y="0"/>
                  </a:lnTo>
                  <a:lnTo>
                    <a:pt x="6437938" y="0"/>
                  </a:lnTo>
                  <a:lnTo>
                    <a:pt x="6437938" y="2857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 name="Google Shape;90;p9"/>
            <p:cNvPicPr preferRelativeResize="0"/>
            <p:nvPr/>
          </p:nvPicPr>
          <p:blipFill rotWithShape="1">
            <a:blip r:embed="rId4">
              <a:alphaModFix/>
            </a:blip>
            <a:srcRect b="0" l="0" r="0" t="0"/>
            <a:stretch/>
          </p:blipFill>
          <p:spPr>
            <a:xfrm>
              <a:off x="15806271" y="0"/>
              <a:ext cx="2481728" cy="2017808"/>
            </a:xfrm>
            <a:prstGeom prst="rect">
              <a:avLst/>
            </a:prstGeom>
            <a:noFill/>
            <a:ln>
              <a:noFill/>
            </a:ln>
          </p:spPr>
        </p:pic>
      </p:grpSp>
      <p:sp>
        <p:nvSpPr>
          <p:cNvPr id="91" name="Google Shape;91;p9"/>
          <p:cNvSpPr txBox="1"/>
          <p:nvPr/>
        </p:nvSpPr>
        <p:spPr>
          <a:xfrm>
            <a:off x="10294190" y="1613580"/>
            <a:ext cx="5363210" cy="7264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4600"/>
              <a:buFont typeface="Arial"/>
              <a:buNone/>
            </a:pPr>
            <a:r>
              <a:rPr b="1" i="0" lang="en-US" sz="4600" u="none" cap="none" strike="noStrike">
                <a:solidFill>
                  <a:srgbClr val="000000"/>
                </a:solidFill>
                <a:latin typeface="Tahoma"/>
                <a:ea typeface="Tahoma"/>
                <a:cs typeface="Tahoma"/>
                <a:sym typeface="Tahoma"/>
              </a:rPr>
              <a:t>Our Core Services</a:t>
            </a:r>
            <a:endParaRPr b="0" i="0" sz="4600" u="none" cap="none" strike="noStrike">
              <a:solidFill>
                <a:srgbClr val="000000"/>
              </a:solidFill>
              <a:latin typeface="Tahoma"/>
              <a:ea typeface="Tahoma"/>
              <a:cs typeface="Tahoma"/>
              <a:sym typeface="Tahoma"/>
            </a:endParaRPr>
          </a:p>
        </p:txBody>
      </p:sp>
      <p:sp>
        <p:nvSpPr>
          <p:cNvPr id="92" name="Google Shape;92;p9"/>
          <p:cNvSpPr/>
          <p:nvPr/>
        </p:nvSpPr>
        <p:spPr>
          <a:xfrm>
            <a:off x="11850061" y="6367184"/>
            <a:ext cx="1441450" cy="0"/>
          </a:xfrm>
          <a:custGeom>
            <a:rect b="b" l="l" r="r" t="t"/>
            <a:pathLst>
              <a:path extrusionOk="0" h="120000" w="1441450">
                <a:moveTo>
                  <a:pt x="0" y="0"/>
                </a:moveTo>
                <a:lnTo>
                  <a:pt x="1441094" y="0"/>
                </a:lnTo>
              </a:path>
            </a:pathLst>
          </a:custGeom>
          <a:noFill/>
          <a:ln cap="flat" cmpd="sng" w="28550">
            <a:solidFill>
              <a:srgbClr val="B0030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9"/>
          <p:cNvSpPr txBox="1"/>
          <p:nvPr/>
        </p:nvSpPr>
        <p:spPr>
          <a:xfrm>
            <a:off x="10897258" y="5519406"/>
            <a:ext cx="3562350" cy="4597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850"/>
              <a:buFont typeface="Arial"/>
              <a:buNone/>
            </a:pPr>
            <a:r>
              <a:rPr b="1" i="0" lang="en-US" sz="2850" u="none" cap="none" strike="noStrike">
                <a:solidFill>
                  <a:srgbClr val="000000"/>
                </a:solidFill>
                <a:latin typeface="Tahoma"/>
                <a:ea typeface="Tahoma"/>
                <a:cs typeface="Tahoma"/>
                <a:sym typeface="Tahoma"/>
              </a:rPr>
              <a:t>Web Development</a:t>
            </a:r>
            <a:endParaRPr b="0" i="0" sz="2850" u="none" cap="none" strike="noStrike">
              <a:solidFill>
                <a:srgbClr val="000000"/>
              </a:solidFill>
              <a:latin typeface="Tahoma"/>
              <a:ea typeface="Tahoma"/>
              <a:cs typeface="Tahoma"/>
              <a:sym typeface="Tahoma"/>
            </a:endParaRPr>
          </a:p>
        </p:txBody>
      </p:sp>
      <p:sp>
        <p:nvSpPr>
          <p:cNvPr id="94" name="Google Shape;94;p9"/>
          <p:cNvSpPr txBox="1"/>
          <p:nvPr/>
        </p:nvSpPr>
        <p:spPr>
          <a:xfrm>
            <a:off x="1455339" y="656244"/>
            <a:ext cx="3326765"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000000"/>
                </a:solidFill>
                <a:latin typeface="Tahoma"/>
                <a:ea typeface="Tahoma"/>
                <a:cs typeface="Tahoma"/>
                <a:sym typeface="Tahoma"/>
              </a:rPr>
              <a:t>Digital Dream Works LLC</a:t>
            </a:r>
            <a:endParaRPr b="0" i="0" sz="1950" u="none" cap="none" strike="noStrike">
              <a:solidFill>
                <a:srgbClr val="000000"/>
              </a:solidFill>
              <a:latin typeface="Tahoma"/>
              <a:ea typeface="Tahoma"/>
              <a:cs typeface="Tahoma"/>
              <a:sym typeface="Tahoma"/>
            </a:endParaRPr>
          </a:p>
        </p:txBody>
      </p:sp>
      <p:sp>
        <p:nvSpPr>
          <p:cNvPr id="95" name="Google Shape;95;p9"/>
          <p:cNvSpPr txBox="1"/>
          <p:nvPr/>
        </p:nvSpPr>
        <p:spPr>
          <a:xfrm>
            <a:off x="5921029" y="681010"/>
            <a:ext cx="1791970"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pic>
        <p:nvPicPr>
          <p:cNvPr id="100" name="Google Shape;100;p10"/>
          <p:cNvPicPr preferRelativeResize="0"/>
          <p:nvPr/>
        </p:nvPicPr>
        <p:blipFill rotWithShape="1">
          <a:blip r:embed="rId3">
            <a:alphaModFix/>
          </a:blip>
          <a:srcRect b="0" l="0" r="0" t="0"/>
          <a:stretch/>
        </p:blipFill>
        <p:spPr>
          <a:xfrm>
            <a:off x="382968" y="846188"/>
            <a:ext cx="6607480" cy="8259350"/>
          </a:xfrm>
          <a:prstGeom prst="rect">
            <a:avLst/>
          </a:prstGeom>
          <a:noFill/>
          <a:ln>
            <a:noFill/>
          </a:ln>
        </p:spPr>
      </p:pic>
      <p:sp>
        <p:nvSpPr>
          <p:cNvPr id="101" name="Google Shape;101;p10"/>
          <p:cNvSpPr txBox="1"/>
          <p:nvPr>
            <p:ph type="title"/>
          </p:nvPr>
        </p:nvSpPr>
        <p:spPr>
          <a:xfrm>
            <a:off x="717103" y="1305446"/>
            <a:ext cx="7544434" cy="1318895"/>
          </a:xfrm>
          <a:prstGeom prst="rect">
            <a:avLst/>
          </a:prstGeom>
          <a:noFill/>
          <a:ln>
            <a:noFill/>
          </a:ln>
        </p:spPr>
        <p:txBody>
          <a:bodyPr anchorCtr="0" anchor="t" bIns="0" lIns="0" spcFirstLastPara="1" rIns="0" wrap="square" tIns="353600">
            <a:spAutoFit/>
          </a:bodyPr>
          <a:lstStyle/>
          <a:p>
            <a:pPr indent="0" lvl="0" marL="654050" rtl="0" algn="l">
              <a:lnSpc>
                <a:spcPct val="100000"/>
              </a:lnSpc>
              <a:spcBef>
                <a:spcPts val="0"/>
              </a:spcBef>
              <a:spcAft>
                <a:spcPts val="0"/>
              </a:spcAft>
              <a:buSzPts val="1400"/>
              <a:buNone/>
            </a:pPr>
            <a:r>
              <a:rPr lang="en-US"/>
              <a:t>Plan of Action</a:t>
            </a:r>
            <a:endParaRPr/>
          </a:p>
        </p:txBody>
      </p:sp>
      <p:sp>
        <p:nvSpPr>
          <p:cNvPr id="102" name="Google Shape;102;p10"/>
          <p:cNvSpPr txBox="1"/>
          <p:nvPr/>
        </p:nvSpPr>
        <p:spPr>
          <a:xfrm>
            <a:off x="11294857" y="1867688"/>
            <a:ext cx="6338570" cy="1692275"/>
          </a:xfrm>
          <a:prstGeom prst="rect">
            <a:avLst/>
          </a:prstGeom>
          <a:noFill/>
          <a:ln>
            <a:noFill/>
          </a:ln>
        </p:spPr>
        <p:txBody>
          <a:bodyPr anchorCtr="0" anchor="t" bIns="0" lIns="0" spcFirstLastPara="1" rIns="0" wrap="square" tIns="12700">
            <a:spAutoFit/>
          </a:bodyPr>
          <a:lstStyle/>
          <a:p>
            <a:pPr indent="0" lvl="0" marL="12700" marR="5080" rtl="0" algn="l">
              <a:lnSpc>
                <a:spcPct val="115100"/>
              </a:lnSpc>
              <a:spcBef>
                <a:spcPts val="0"/>
              </a:spcBef>
              <a:spcAft>
                <a:spcPts val="0"/>
              </a:spcAft>
              <a:buClr>
                <a:srgbClr val="000000"/>
              </a:buClr>
              <a:buSzPts val="1900"/>
              <a:buFont typeface="Arial"/>
              <a:buNone/>
            </a:pPr>
            <a:r>
              <a:rPr b="0" i="0" lang="en-US" sz="1900" u="none" cap="none" strike="noStrike">
                <a:solidFill>
                  <a:srgbClr val="000000"/>
                </a:solidFill>
                <a:latin typeface="Tahoma"/>
                <a:ea typeface="Tahoma"/>
                <a:cs typeface="Tahoma"/>
                <a:sym typeface="Tahoma"/>
              </a:rPr>
              <a:t>To accelerate {{client_name}}’s growth, we’ve structured a clear, data-backed roadmap tailored to your brand’s goals. Each phase below represents a key milestone — blending strategy, automation, and creative execution to deliver measurable results.</a:t>
            </a:r>
            <a:endParaRPr b="0" i="0" sz="1900" u="none" cap="none" strike="noStrike">
              <a:solidFill>
                <a:srgbClr val="000000"/>
              </a:solidFill>
              <a:latin typeface="Tahoma"/>
              <a:ea typeface="Tahoma"/>
              <a:cs typeface="Tahoma"/>
              <a:sym typeface="Tahoma"/>
            </a:endParaRPr>
          </a:p>
        </p:txBody>
      </p:sp>
      <p:sp>
        <p:nvSpPr>
          <p:cNvPr id="103" name="Google Shape;103;p10"/>
          <p:cNvSpPr txBox="1"/>
          <p:nvPr/>
        </p:nvSpPr>
        <p:spPr>
          <a:xfrm>
            <a:off x="11307557" y="5978362"/>
            <a:ext cx="1845900" cy="1028700"/>
          </a:xfrm>
          <a:prstGeom prst="rect">
            <a:avLst/>
          </a:prstGeom>
          <a:solidFill>
            <a:srgbClr val="B00304"/>
          </a:solidFill>
          <a:ln>
            <a:noFill/>
          </a:ln>
        </p:spPr>
        <p:txBody>
          <a:bodyPr anchorCtr="0" anchor="t" bIns="0" lIns="0" spcFirstLastPara="1" rIns="0" wrap="square" tIns="204450">
            <a:spAutoFit/>
          </a:bodyPr>
          <a:lstStyle/>
          <a:p>
            <a:pPr indent="-43178" lvl="0" marL="226058" marR="176530" rtl="0" algn="ctr">
              <a:lnSpc>
                <a:spcPct val="116900"/>
              </a:lnSpc>
              <a:spcBef>
                <a:spcPts val="0"/>
              </a:spcBef>
              <a:spcAft>
                <a:spcPts val="0"/>
              </a:spcAft>
              <a:buClr>
                <a:srgbClr val="000000"/>
              </a:buClr>
              <a:buSzPts val="1600"/>
              <a:buFont typeface="Arial"/>
              <a:buNone/>
            </a:pPr>
            <a:r>
              <a:rPr b="1" i="0" lang="en-US" sz="1600" u="none" cap="none" strike="noStrike">
                <a:solidFill>
                  <a:srgbClr val="FFFFFF"/>
                </a:solidFill>
                <a:latin typeface="Tahoma"/>
                <a:ea typeface="Tahoma"/>
                <a:cs typeface="Tahoma"/>
                <a:sym typeface="Tahoma"/>
              </a:rPr>
              <a:t>Automation &amp; Optimization</a:t>
            </a:r>
            <a:endParaRPr b="1" i="0" sz="1600" u="none" cap="none" strike="noStrike">
              <a:solidFill>
                <a:srgbClr val="FFFFFF"/>
              </a:solidFill>
              <a:latin typeface="Tahoma"/>
              <a:ea typeface="Tahoma"/>
              <a:cs typeface="Tahoma"/>
              <a:sym typeface="Tahoma"/>
            </a:endParaRPr>
          </a:p>
          <a:p>
            <a:pPr indent="-43179" lvl="0" marL="226059" marR="176530" rtl="0" algn="l">
              <a:lnSpc>
                <a:spcPct val="116900"/>
              </a:lnSpc>
              <a:spcBef>
                <a:spcPts val="0"/>
              </a:spcBef>
              <a:spcAft>
                <a:spcPts val="0"/>
              </a:spcAft>
              <a:buClr>
                <a:srgbClr val="000000"/>
              </a:buClr>
              <a:buSzPts val="1600"/>
              <a:buFont typeface="Arial"/>
              <a:buNone/>
            </a:pPr>
            <a:r>
              <a:t/>
            </a:r>
            <a:endParaRPr b="1" i="0" sz="1600" u="none" cap="none" strike="noStrike">
              <a:solidFill>
                <a:srgbClr val="FFFFFF"/>
              </a:solidFill>
              <a:latin typeface="Tahoma"/>
              <a:ea typeface="Tahoma"/>
              <a:cs typeface="Tahoma"/>
              <a:sym typeface="Tahoma"/>
            </a:endParaRPr>
          </a:p>
        </p:txBody>
      </p:sp>
      <p:sp>
        <p:nvSpPr>
          <p:cNvPr id="104" name="Google Shape;104;p10"/>
          <p:cNvSpPr txBox="1"/>
          <p:nvPr/>
        </p:nvSpPr>
        <p:spPr>
          <a:xfrm>
            <a:off x="11307550" y="7765000"/>
            <a:ext cx="1845900" cy="954900"/>
          </a:xfrm>
          <a:prstGeom prst="rect">
            <a:avLst/>
          </a:prstGeom>
          <a:solidFill>
            <a:srgbClr val="B00304"/>
          </a:solidFill>
          <a:ln>
            <a:noFill/>
          </a:ln>
        </p:spPr>
        <p:txBody>
          <a:bodyPr anchorCtr="0" anchor="t" bIns="0" lIns="0" spcFirstLastPara="1" rIns="0" wrap="square" tIns="40625">
            <a:spAutoFit/>
          </a:bodyPr>
          <a:lstStyle/>
          <a:p>
            <a:pPr indent="25400" lvl="0" marL="223520" marR="243204" rtl="0" algn="l">
              <a:lnSpc>
                <a:spcPct val="115900"/>
              </a:lnSpc>
              <a:spcBef>
                <a:spcPts val="0"/>
              </a:spcBef>
              <a:spcAft>
                <a:spcPts val="0"/>
              </a:spcAft>
              <a:buClr>
                <a:srgbClr val="000000"/>
              </a:buClr>
              <a:buSzPts val="2750"/>
              <a:buFont typeface="Arial"/>
              <a:buNone/>
            </a:pPr>
            <a:r>
              <a:rPr b="1" i="0" lang="en-US" sz="2750" u="none" cap="none" strike="noStrike">
                <a:solidFill>
                  <a:srgbClr val="B00304"/>
                </a:solidFill>
                <a:latin typeface="Tahoma"/>
                <a:ea typeface="Tahoma"/>
                <a:cs typeface="Tahoma"/>
                <a:sym typeface="Tahoma"/>
              </a:rPr>
              <a:t>Launch &amp; Scale</a:t>
            </a:r>
            <a:endParaRPr b="0" i="0" sz="2750" u="none" cap="none" strike="noStrike">
              <a:solidFill>
                <a:srgbClr val="B00304"/>
              </a:solidFill>
              <a:latin typeface="Tahoma"/>
              <a:ea typeface="Tahoma"/>
              <a:cs typeface="Tahoma"/>
              <a:sym typeface="Tahoma"/>
            </a:endParaRPr>
          </a:p>
        </p:txBody>
      </p:sp>
      <p:sp>
        <p:nvSpPr>
          <p:cNvPr id="105" name="Google Shape;105;p10"/>
          <p:cNvSpPr txBox="1"/>
          <p:nvPr/>
        </p:nvSpPr>
        <p:spPr>
          <a:xfrm>
            <a:off x="13747018" y="4147692"/>
            <a:ext cx="1774189" cy="23431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ahoma"/>
                <a:ea typeface="Tahoma"/>
                <a:cs typeface="Tahoma"/>
                <a:sym typeface="Tahoma"/>
              </a:rPr>
              <a:t>{{phase1_summary}}</a:t>
            </a:r>
            <a:endParaRPr b="0" i="0" sz="1350" u="none" cap="none" strike="noStrike">
              <a:solidFill>
                <a:srgbClr val="000000"/>
              </a:solidFill>
              <a:latin typeface="Tahoma"/>
              <a:ea typeface="Tahoma"/>
              <a:cs typeface="Tahoma"/>
              <a:sym typeface="Tahoma"/>
            </a:endParaRPr>
          </a:p>
        </p:txBody>
      </p:sp>
      <p:sp>
        <p:nvSpPr>
          <p:cNvPr id="106" name="Google Shape;106;p10"/>
          <p:cNvSpPr txBox="1"/>
          <p:nvPr/>
        </p:nvSpPr>
        <p:spPr>
          <a:xfrm>
            <a:off x="13701324" y="5937397"/>
            <a:ext cx="1810385" cy="23431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ahoma"/>
                <a:ea typeface="Tahoma"/>
                <a:cs typeface="Tahoma"/>
                <a:sym typeface="Tahoma"/>
              </a:rPr>
              <a:t>{{phase2_summary}}</a:t>
            </a:r>
            <a:endParaRPr b="0" i="0" sz="1350" u="none" cap="none" strike="noStrike">
              <a:solidFill>
                <a:srgbClr val="000000"/>
              </a:solidFill>
              <a:latin typeface="Tahoma"/>
              <a:ea typeface="Tahoma"/>
              <a:cs typeface="Tahoma"/>
              <a:sym typeface="Tahoma"/>
            </a:endParaRPr>
          </a:p>
        </p:txBody>
      </p:sp>
      <p:sp>
        <p:nvSpPr>
          <p:cNvPr id="107" name="Google Shape;107;p10"/>
          <p:cNvSpPr txBox="1"/>
          <p:nvPr/>
        </p:nvSpPr>
        <p:spPr>
          <a:xfrm>
            <a:off x="13701324" y="7687616"/>
            <a:ext cx="1809750" cy="23431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ahoma"/>
                <a:ea typeface="Tahoma"/>
                <a:cs typeface="Tahoma"/>
                <a:sym typeface="Tahoma"/>
              </a:rPr>
              <a:t>{{phase3_summary}}</a:t>
            </a:r>
            <a:endParaRPr b="0" i="0" sz="1350" u="none" cap="none" strike="noStrike">
              <a:solidFill>
                <a:srgbClr val="000000"/>
              </a:solidFill>
              <a:latin typeface="Tahoma"/>
              <a:ea typeface="Tahoma"/>
              <a:cs typeface="Tahoma"/>
              <a:sym typeface="Tahoma"/>
            </a:endParaRPr>
          </a:p>
        </p:txBody>
      </p:sp>
      <p:sp>
        <p:nvSpPr>
          <p:cNvPr id="108" name="Google Shape;108;p10"/>
          <p:cNvSpPr/>
          <p:nvPr/>
        </p:nvSpPr>
        <p:spPr>
          <a:xfrm>
            <a:off x="0" y="9705389"/>
            <a:ext cx="18288000" cy="28575"/>
          </a:xfrm>
          <a:custGeom>
            <a:rect b="b" l="l" r="r" t="t"/>
            <a:pathLst>
              <a:path extrusionOk="0" h="28575" w="18288000">
                <a:moveTo>
                  <a:pt x="0" y="28574"/>
                </a:moveTo>
                <a:lnTo>
                  <a:pt x="0" y="0"/>
                </a:lnTo>
                <a:lnTo>
                  <a:pt x="18287999" y="0"/>
                </a:lnTo>
                <a:lnTo>
                  <a:pt x="18287999" y="28574"/>
                </a:lnTo>
                <a:lnTo>
                  <a:pt x="0" y="2857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9" name="Google Shape;109;p10"/>
          <p:cNvGrpSpPr/>
          <p:nvPr/>
        </p:nvGrpSpPr>
        <p:grpSpPr>
          <a:xfrm>
            <a:off x="11884492" y="0"/>
            <a:ext cx="6403975" cy="2017808"/>
            <a:chOff x="11884492" y="0"/>
            <a:chExt cx="6403975" cy="2017808"/>
          </a:xfrm>
        </p:grpSpPr>
        <p:sp>
          <p:nvSpPr>
            <p:cNvPr id="110" name="Google Shape;110;p10"/>
            <p:cNvSpPr/>
            <p:nvPr/>
          </p:nvSpPr>
          <p:spPr>
            <a:xfrm>
              <a:off x="11884492" y="1294393"/>
              <a:ext cx="6403975" cy="28575"/>
            </a:xfrm>
            <a:custGeom>
              <a:rect b="b" l="l" r="r" t="t"/>
              <a:pathLst>
                <a:path extrusionOk="0" h="28575" w="6403975">
                  <a:moveTo>
                    <a:pt x="6403507" y="28574"/>
                  </a:moveTo>
                  <a:lnTo>
                    <a:pt x="0" y="28574"/>
                  </a:lnTo>
                  <a:lnTo>
                    <a:pt x="0" y="0"/>
                  </a:lnTo>
                  <a:lnTo>
                    <a:pt x="6403507" y="0"/>
                  </a:lnTo>
                  <a:lnTo>
                    <a:pt x="6403507" y="2857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0"/>
            <p:cNvPicPr preferRelativeResize="0"/>
            <p:nvPr/>
          </p:nvPicPr>
          <p:blipFill rotWithShape="1">
            <a:blip r:embed="rId4">
              <a:alphaModFix/>
            </a:blip>
            <a:srcRect b="0" l="0" r="0" t="0"/>
            <a:stretch/>
          </p:blipFill>
          <p:spPr>
            <a:xfrm>
              <a:off x="15806271" y="0"/>
              <a:ext cx="2481728" cy="2017808"/>
            </a:xfrm>
            <a:prstGeom prst="rect">
              <a:avLst/>
            </a:prstGeom>
            <a:noFill/>
            <a:ln>
              <a:noFill/>
            </a:ln>
          </p:spPr>
        </p:pic>
      </p:grpSp>
      <p:sp>
        <p:nvSpPr>
          <p:cNvPr id="112" name="Google Shape;112;p10"/>
          <p:cNvSpPr txBox="1"/>
          <p:nvPr/>
        </p:nvSpPr>
        <p:spPr>
          <a:xfrm>
            <a:off x="11307557" y="4191732"/>
            <a:ext cx="1845900" cy="932700"/>
          </a:xfrm>
          <a:prstGeom prst="rect">
            <a:avLst/>
          </a:prstGeom>
          <a:solidFill>
            <a:srgbClr val="B00304"/>
          </a:solidFill>
          <a:ln>
            <a:noFill/>
          </a:ln>
        </p:spPr>
        <p:txBody>
          <a:bodyPr anchorCtr="0" anchor="t" bIns="0" lIns="0" spcFirstLastPara="1" rIns="0" wrap="square" tIns="118100">
            <a:spAutoFit/>
          </a:bodyPr>
          <a:lstStyle/>
          <a:p>
            <a:pPr indent="-283210" lvl="0" marL="541020" marR="306070" rtl="0" algn="l">
              <a:lnSpc>
                <a:spcPct val="113599"/>
              </a:lnSpc>
              <a:spcBef>
                <a:spcPts val="0"/>
              </a:spcBef>
              <a:spcAft>
                <a:spcPts val="0"/>
              </a:spcAft>
              <a:buClr>
                <a:srgbClr val="000000"/>
              </a:buClr>
              <a:buSzPts val="1650"/>
              <a:buFont typeface="Arial"/>
              <a:buNone/>
            </a:pPr>
            <a:r>
              <a:rPr b="1" i="0" lang="en-US" sz="1600" u="none" cap="none" strike="noStrike">
                <a:solidFill>
                  <a:srgbClr val="FFFFFF"/>
                </a:solidFill>
                <a:latin typeface="Tahoma"/>
                <a:ea typeface="Tahoma"/>
                <a:cs typeface="Tahoma"/>
                <a:sym typeface="Tahoma"/>
              </a:rPr>
              <a:t>Foundation Setup</a:t>
            </a:r>
            <a:endParaRPr b="1" i="0" sz="1600" u="none" cap="none" strike="noStrike">
              <a:solidFill>
                <a:srgbClr val="FFFFFF"/>
              </a:solidFill>
              <a:latin typeface="Tahoma"/>
              <a:ea typeface="Tahoma"/>
              <a:cs typeface="Tahoma"/>
              <a:sym typeface="Tahoma"/>
            </a:endParaRPr>
          </a:p>
          <a:p>
            <a:pPr indent="-283210" lvl="0" marL="541020" marR="306070" rtl="0" algn="l">
              <a:lnSpc>
                <a:spcPct val="113599"/>
              </a:lnSpc>
              <a:spcBef>
                <a:spcPts val="0"/>
              </a:spcBef>
              <a:spcAft>
                <a:spcPts val="0"/>
              </a:spcAft>
              <a:buClr>
                <a:srgbClr val="000000"/>
              </a:buClr>
              <a:buSzPts val="1650"/>
              <a:buFont typeface="Arial"/>
              <a:buNone/>
            </a:pPr>
            <a:r>
              <a:t/>
            </a:r>
            <a:endParaRPr b="1" i="0" sz="1650" u="none" cap="none" strike="noStrike">
              <a:solidFill>
                <a:srgbClr val="FFFFFF"/>
              </a:solidFill>
              <a:latin typeface="Tahoma"/>
              <a:ea typeface="Tahoma"/>
              <a:cs typeface="Tahoma"/>
              <a:sym typeface="Tahoma"/>
            </a:endParaRPr>
          </a:p>
        </p:txBody>
      </p:sp>
      <p:sp>
        <p:nvSpPr>
          <p:cNvPr id="113" name="Google Shape;113;p10"/>
          <p:cNvSpPr txBox="1"/>
          <p:nvPr/>
        </p:nvSpPr>
        <p:spPr>
          <a:xfrm>
            <a:off x="1455339" y="656244"/>
            <a:ext cx="3326765"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000000"/>
                </a:solidFill>
                <a:latin typeface="Tahoma"/>
                <a:ea typeface="Tahoma"/>
                <a:cs typeface="Tahoma"/>
                <a:sym typeface="Tahoma"/>
              </a:rPr>
              <a:t>Digital Dream Works LLC</a:t>
            </a:r>
            <a:endParaRPr b="0" i="0" sz="1950" u="none" cap="none" strike="noStrike">
              <a:solidFill>
                <a:srgbClr val="000000"/>
              </a:solidFill>
              <a:latin typeface="Tahoma"/>
              <a:ea typeface="Tahoma"/>
              <a:cs typeface="Tahoma"/>
              <a:sym typeface="Tahoma"/>
            </a:endParaRPr>
          </a:p>
        </p:txBody>
      </p:sp>
      <p:sp>
        <p:nvSpPr>
          <p:cNvPr id="114" name="Google Shape;114;p10"/>
          <p:cNvSpPr txBox="1"/>
          <p:nvPr/>
        </p:nvSpPr>
        <p:spPr>
          <a:xfrm>
            <a:off x="5921029" y="681010"/>
            <a:ext cx="1791970"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sp>
        <p:nvSpPr>
          <p:cNvPr id="115" name="Google Shape;115;p10"/>
          <p:cNvSpPr txBox="1"/>
          <p:nvPr/>
        </p:nvSpPr>
        <p:spPr>
          <a:xfrm>
            <a:off x="11307557" y="7764987"/>
            <a:ext cx="1845900" cy="740700"/>
          </a:xfrm>
          <a:prstGeom prst="rect">
            <a:avLst/>
          </a:prstGeom>
          <a:solidFill>
            <a:srgbClr val="B00304"/>
          </a:solidFill>
          <a:ln>
            <a:noFill/>
          </a:ln>
        </p:spPr>
        <p:txBody>
          <a:bodyPr anchorCtr="0" anchor="t" bIns="0" lIns="0" spcFirstLastPara="1" rIns="0" wrap="square" tIns="204450">
            <a:spAutoFit/>
          </a:bodyPr>
          <a:lstStyle/>
          <a:p>
            <a:pPr indent="-43178" lvl="0" marL="226058" marR="176530" rtl="0" algn="ctr">
              <a:lnSpc>
                <a:spcPct val="116900"/>
              </a:lnSpc>
              <a:spcBef>
                <a:spcPts val="0"/>
              </a:spcBef>
              <a:spcAft>
                <a:spcPts val="0"/>
              </a:spcAft>
              <a:buClr>
                <a:srgbClr val="000000"/>
              </a:buClr>
              <a:buSzPts val="1600"/>
              <a:buFont typeface="Arial"/>
              <a:buNone/>
            </a:pPr>
            <a:r>
              <a:rPr b="1" i="0" lang="en-US" sz="1600" u="none" cap="none" strike="noStrike">
                <a:solidFill>
                  <a:srgbClr val="FFFFFF"/>
                </a:solidFill>
                <a:latin typeface="Tahoma"/>
                <a:ea typeface="Tahoma"/>
                <a:cs typeface="Tahoma"/>
                <a:sym typeface="Tahoma"/>
              </a:rPr>
              <a:t>Launch and Scale</a:t>
            </a:r>
            <a:endParaRPr b="1" i="0" sz="1600" u="none" cap="none" strike="noStrike">
              <a:solidFill>
                <a:srgbClr val="FFFFFF"/>
              </a:solidFill>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id="120" name="Google Shape;120;p11"/>
          <p:cNvSpPr txBox="1"/>
          <p:nvPr>
            <p:ph type="title"/>
          </p:nvPr>
        </p:nvSpPr>
        <p:spPr>
          <a:xfrm>
            <a:off x="1358535" y="1544319"/>
            <a:ext cx="8077834" cy="2137410"/>
          </a:xfrm>
          <a:prstGeom prst="rect">
            <a:avLst/>
          </a:prstGeom>
          <a:noFill/>
          <a:ln>
            <a:noFill/>
          </a:ln>
        </p:spPr>
        <p:txBody>
          <a:bodyPr anchorCtr="0" anchor="t" bIns="0" lIns="0" spcFirstLastPara="1" rIns="0" wrap="square" tIns="12050">
            <a:spAutoFit/>
          </a:bodyPr>
          <a:lstStyle/>
          <a:p>
            <a:pPr indent="0" lvl="0" marL="12700" marR="5080" rtl="0" algn="l">
              <a:lnSpc>
                <a:spcPct val="116399"/>
              </a:lnSpc>
              <a:spcBef>
                <a:spcPts val="0"/>
              </a:spcBef>
              <a:spcAft>
                <a:spcPts val="0"/>
              </a:spcAft>
              <a:buSzPts val="1400"/>
              <a:buNone/>
            </a:pPr>
            <a:r>
              <a:rPr lang="en-US" sz="5950"/>
              <a:t>Understanding Your Business</a:t>
            </a:r>
            <a:endParaRPr sz="5950"/>
          </a:p>
        </p:txBody>
      </p:sp>
      <p:sp>
        <p:nvSpPr>
          <p:cNvPr id="121" name="Google Shape;121;p11"/>
          <p:cNvSpPr txBox="1"/>
          <p:nvPr/>
        </p:nvSpPr>
        <p:spPr>
          <a:xfrm>
            <a:off x="1358535" y="3644806"/>
            <a:ext cx="9540240" cy="2610485"/>
          </a:xfrm>
          <a:prstGeom prst="rect">
            <a:avLst/>
          </a:prstGeom>
          <a:noFill/>
          <a:ln>
            <a:noFill/>
          </a:ln>
        </p:spPr>
        <p:txBody>
          <a:bodyPr anchorCtr="0" anchor="t" bIns="0" lIns="0" spcFirstLastPara="1" rIns="0" wrap="square" tIns="11425">
            <a:spAutoFit/>
          </a:bodyPr>
          <a:lstStyle/>
          <a:p>
            <a:pPr indent="0" lvl="0" marL="12700" marR="114935" rtl="0" algn="l">
              <a:lnSpc>
                <a:spcPct val="118200"/>
              </a:lnSpc>
              <a:spcBef>
                <a:spcPts val="0"/>
              </a:spcBef>
              <a:spcAft>
                <a:spcPts val="0"/>
              </a:spcAft>
              <a:buClr>
                <a:srgbClr val="000000"/>
              </a:buClr>
              <a:buSzPts val="2050"/>
              <a:buFont typeface="Arial"/>
              <a:buNone/>
            </a:pPr>
            <a:r>
              <a:rPr b="0" i="0" lang="en-US" sz="2050" u="none" cap="none" strike="noStrike">
                <a:solidFill>
                  <a:srgbClr val="000000"/>
                </a:solidFill>
                <a:latin typeface="Tahoma"/>
                <a:ea typeface="Tahoma"/>
                <a:cs typeface="Tahoma"/>
                <a:sym typeface="Tahoma"/>
              </a:rPr>
              <a:t>Every brand has unique challenges that shape its growth potential. At Digital Dream Works LLC, we analyze your digital presence, audience behavior, and market positioning to pinpoint the factors that limit your current results.</a:t>
            </a:r>
            <a:endParaRPr b="0" i="0" sz="2050" u="none" cap="none" strike="noStrike">
              <a:solidFill>
                <a:srgbClr val="000000"/>
              </a:solidFill>
              <a:latin typeface="Tahoma"/>
              <a:ea typeface="Tahoma"/>
              <a:cs typeface="Tahoma"/>
              <a:sym typeface="Tahoma"/>
            </a:endParaRPr>
          </a:p>
          <a:p>
            <a:pPr indent="0" lvl="0" marL="12700" marR="5080" rtl="0" algn="l">
              <a:lnSpc>
                <a:spcPct val="118200"/>
              </a:lnSpc>
              <a:spcBef>
                <a:spcPts val="0"/>
              </a:spcBef>
              <a:spcAft>
                <a:spcPts val="0"/>
              </a:spcAft>
              <a:buClr>
                <a:srgbClr val="000000"/>
              </a:buClr>
              <a:buSzPts val="2050"/>
              <a:buFont typeface="Arial"/>
              <a:buNone/>
            </a:pPr>
            <a:r>
              <a:rPr b="0" i="0" lang="en-US" sz="2050" u="none" cap="none" strike="noStrike">
                <a:solidFill>
                  <a:srgbClr val="000000"/>
                </a:solidFill>
                <a:latin typeface="Tahoma"/>
                <a:ea typeface="Tahoma"/>
                <a:cs typeface="Tahoma"/>
                <a:sym typeface="Tahoma"/>
              </a:rPr>
              <a:t>This insight is generated through our AI-powered audit system — blending data, design, and strategic logic to identify what matters most for your next phase of growth.</a:t>
            </a:r>
            <a:endParaRPr b="0" i="0" sz="2050" u="none" cap="none" strike="noStrike">
              <a:solidFill>
                <a:srgbClr val="000000"/>
              </a:solidFill>
              <a:latin typeface="Tahoma"/>
              <a:ea typeface="Tahoma"/>
              <a:cs typeface="Tahoma"/>
              <a:sym typeface="Tahoma"/>
            </a:endParaRPr>
          </a:p>
        </p:txBody>
      </p:sp>
      <p:sp>
        <p:nvSpPr>
          <p:cNvPr id="122" name="Google Shape;122;p11"/>
          <p:cNvSpPr txBox="1"/>
          <p:nvPr/>
        </p:nvSpPr>
        <p:spPr>
          <a:xfrm>
            <a:off x="1358535" y="6699020"/>
            <a:ext cx="2734310" cy="701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Tahoma"/>
                <a:ea typeface="Tahoma"/>
                <a:cs typeface="Tahoma"/>
                <a:sym typeface="Tahoma"/>
              </a:rPr>
              <a:t>Brand Positioning</a:t>
            </a:r>
            <a:endParaRPr b="0" i="0" sz="1700" u="none" cap="none" strike="noStrike">
              <a:solidFill>
                <a:srgbClr val="000000"/>
              </a:solidFill>
              <a:latin typeface="Tahoma"/>
              <a:ea typeface="Tahoma"/>
              <a:cs typeface="Tahoma"/>
              <a:sym typeface="Tahoma"/>
            </a:endParaRPr>
          </a:p>
          <a:p>
            <a:pPr indent="0" lvl="0" marL="12700" marR="0" rtl="0" algn="l">
              <a:lnSpc>
                <a:spcPct val="100000"/>
              </a:lnSpc>
              <a:spcBef>
                <a:spcPts val="1664"/>
              </a:spcBef>
              <a:spcAft>
                <a:spcPts val="0"/>
              </a:spcAft>
              <a:buClr>
                <a:srgbClr val="000000"/>
              </a:buClr>
              <a:buSzPts val="1350"/>
              <a:buFont typeface="Arial"/>
              <a:buNone/>
            </a:pPr>
            <a:r>
              <a:rPr b="0" i="0" lang="en-US" sz="1350" u="none" cap="none" strike="noStrike">
                <a:solidFill>
                  <a:srgbClr val="000000"/>
                </a:solidFill>
                <a:latin typeface="Tahoma"/>
                <a:ea typeface="Tahoma"/>
                <a:cs typeface="Tahoma"/>
                <a:sym typeface="Tahoma"/>
              </a:rPr>
              <a:t>{{brand_positioning_summary}}</a:t>
            </a:r>
            <a:endParaRPr b="0" i="0" sz="1350" u="none" cap="none" strike="noStrike">
              <a:solidFill>
                <a:srgbClr val="000000"/>
              </a:solidFill>
              <a:latin typeface="Tahoma"/>
              <a:ea typeface="Tahoma"/>
              <a:cs typeface="Tahoma"/>
              <a:sym typeface="Tahoma"/>
            </a:endParaRPr>
          </a:p>
        </p:txBody>
      </p:sp>
      <p:sp>
        <p:nvSpPr>
          <p:cNvPr id="123" name="Google Shape;123;p11"/>
          <p:cNvSpPr txBox="1"/>
          <p:nvPr/>
        </p:nvSpPr>
        <p:spPr>
          <a:xfrm>
            <a:off x="4247755" y="6699020"/>
            <a:ext cx="2894965" cy="701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Tahoma"/>
                <a:ea typeface="Tahoma"/>
                <a:cs typeface="Tahoma"/>
                <a:sym typeface="Tahoma"/>
              </a:rPr>
              <a:t>Marketing Systems</a:t>
            </a:r>
            <a:endParaRPr b="0" i="0" sz="1700" u="none" cap="none" strike="noStrike">
              <a:solidFill>
                <a:srgbClr val="000000"/>
              </a:solidFill>
              <a:latin typeface="Tahoma"/>
              <a:ea typeface="Tahoma"/>
              <a:cs typeface="Tahoma"/>
              <a:sym typeface="Tahoma"/>
            </a:endParaRPr>
          </a:p>
          <a:p>
            <a:pPr indent="0" lvl="0" marL="57150" marR="0" rtl="0" algn="l">
              <a:lnSpc>
                <a:spcPct val="100000"/>
              </a:lnSpc>
              <a:spcBef>
                <a:spcPts val="1664"/>
              </a:spcBef>
              <a:spcAft>
                <a:spcPts val="0"/>
              </a:spcAft>
              <a:buClr>
                <a:srgbClr val="000000"/>
              </a:buClr>
              <a:buSzPts val="1350"/>
              <a:buFont typeface="Arial"/>
              <a:buNone/>
            </a:pPr>
            <a:r>
              <a:rPr b="0" i="0" lang="en-US" sz="1350" u="none" cap="none" strike="noStrike">
                <a:solidFill>
                  <a:srgbClr val="000000"/>
                </a:solidFill>
                <a:latin typeface="Tahoma"/>
                <a:ea typeface="Tahoma"/>
                <a:cs typeface="Tahoma"/>
                <a:sym typeface="Tahoma"/>
              </a:rPr>
              <a:t>{{marketing_systems_summary}}</a:t>
            </a:r>
            <a:endParaRPr b="0" i="0" sz="1350" u="none" cap="none" strike="noStrike">
              <a:solidFill>
                <a:srgbClr val="000000"/>
              </a:solidFill>
              <a:latin typeface="Tahoma"/>
              <a:ea typeface="Tahoma"/>
              <a:cs typeface="Tahoma"/>
              <a:sym typeface="Tahoma"/>
            </a:endParaRPr>
          </a:p>
        </p:txBody>
      </p:sp>
      <p:sp>
        <p:nvSpPr>
          <p:cNvPr id="124" name="Google Shape;124;p11"/>
          <p:cNvSpPr txBox="1"/>
          <p:nvPr/>
        </p:nvSpPr>
        <p:spPr>
          <a:xfrm>
            <a:off x="7387104" y="6699020"/>
            <a:ext cx="2649855" cy="701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Tahoma"/>
                <a:ea typeface="Tahoma"/>
                <a:cs typeface="Tahoma"/>
                <a:sym typeface="Tahoma"/>
              </a:rPr>
              <a:t>Growth Potential</a:t>
            </a:r>
            <a:endParaRPr b="0" i="0" sz="1700" u="none" cap="none" strike="noStrike">
              <a:solidFill>
                <a:srgbClr val="000000"/>
              </a:solidFill>
              <a:latin typeface="Tahoma"/>
              <a:ea typeface="Tahoma"/>
              <a:cs typeface="Tahoma"/>
              <a:sym typeface="Tahoma"/>
            </a:endParaRPr>
          </a:p>
          <a:p>
            <a:pPr indent="0" lvl="0" marL="12700" marR="0" rtl="0" algn="l">
              <a:lnSpc>
                <a:spcPct val="100000"/>
              </a:lnSpc>
              <a:spcBef>
                <a:spcPts val="1664"/>
              </a:spcBef>
              <a:spcAft>
                <a:spcPts val="0"/>
              </a:spcAft>
              <a:buClr>
                <a:srgbClr val="000000"/>
              </a:buClr>
              <a:buSzPts val="1350"/>
              <a:buFont typeface="Arial"/>
              <a:buNone/>
            </a:pPr>
            <a:r>
              <a:rPr b="0" i="0" lang="en-US" sz="1350" u="none" cap="none" strike="noStrike">
                <a:solidFill>
                  <a:srgbClr val="000000"/>
                </a:solidFill>
                <a:latin typeface="Tahoma"/>
                <a:ea typeface="Tahoma"/>
                <a:cs typeface="Tahoma"/>
                <a:sym typeface="Tahoma"/>
              </a:rPr>
              <a:t>{{growth_potential_summary}}</a:t>
            </a:r>
            <a:endParaRPr b="0" i="0" sz="1350" u="none" cap="none" strike="noStrike">
              <a:solidFill>
                <a:srgbClr val="000000"/>
              </a:solidFill>
              <a:latin typeface="Tahoma"/>
              <a:ea typeface="Tahoma"/>
              <a:cs typeface="Tahoma"/>
              <a:sym typeface="Tahoma"/>
            </a:endParaRPr>
          </a:p>
        </p:txBody>
      </p:sp>
      <p:sp>
        <p:nvSpPr>
          <p:cNvPr id="125" name="Google Shape;125;p11"/>
          <p:cNvSpPr txBox="1"/>
          <p:nvPr/>
        </p:nvSpPr>
        <p:spPr>
          <a:xfrm>
            <a:off x="1455339" y="656244"/>
            <a:ext cx="3326765"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000000"/>
                </a:solidFill>
                <a:latin typeface="Tahoma"/>
                <a:ea typeface="Tahoma"/>
                <a:cs typeface="Tahoma"/>
                <a:sym typeface="Tahoma"/>
              </a:rPr>
              <a:t>Digital Dream Works LLC</a:t>
            </a:r>
            <a:endParaRPr b="0" i="0" sz="1950" u="none" cap="none" strike="noStrike">
              <a:solidFill>
                <a:srgbClr val="000000"/>
              </a:solidFill>
              <a:latin typeface="Tahoma"/>
              <a:ea typeface="Tahoma"/>
              <a:cs typeface="Tahoma"/>
              <a:sym typeface="Tahoma"/>
            </a:endParaRPr>
          </a:p>
        </p:txBody>
      </p:sp>
      <p:sp>
        <p:nvSpPr>
          <p:cNvPr id="126" name="Google Shape;126;p11"/>
          <p:cNvSpPr txBox="1"/>
          <p:nvPr/>
        </p:nvSpPr>
        <p:spPr>
          <a:xfrm>
            <a:off x="5921029" y="681010"/>
            <a:ext cx="1791970"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pic>
        <p:nvPicPr>
          <p:cNvPr id="127" name="Google Shape;127;p11"/>
          <p:cNvPicPr preferRelativeResize="0"/>
          <p:nvPr/>
        </p:nvPicPr>
        <p:blipFill rotWithShape="1">
          <a:blip r:embed="rId3">
            <a:alphaModFix/>
          </a:blip>
          <a:srcRect b="0" l="0" r="0" t="0"/>
          <a:stretch/>
        </p:blipFill>
        <p:spPr>
          <a:xfrm>
            <a:off x="11181868" y="0"/>
            <a:ext cx="8229600" cy="10287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sp>
        <p:nvSpPr>
          <p:cNvPr id="132" name="Google Shape;132;p12"/>
          <p:cNvSpPr txBox="1"/>
          <p:nvPr/>
        </p:nvSpPr>
        <p:spPr>
          <a:xfrm>
            <a:off x="1332988" y="7460216"/>
            <a:ext cx="2444115" cy="989330"/>
          </a:xfrm>
          <a:prstGeom prst="rect">
            <a:avLst/>
          </a:prstGeom>
          <a:noFill/>
          <a:ln>
            <a:noFill/>
          </a:ln>
        </p:spPr>
        <p:txBody>
          <a:bodyPr anchorCtr="0" anchor="t" bIns="0" lIns="0" spcFirstLastPara="1" rIns="0" wrap="square" tIns="12700">
            <a:spAutoFit/>
          </a:bodyPr>
          <a:lstStyle/>
          <a:p>
            <a:pPr indent="0" lvl="0" marL="12700" marR="5080" rtl="0" algn="l">
              <a:lnSpc>
                <a:spcPct val="115700"/>
              </a:lnSpc>
              <a:spcBef>
                <a:spcPts val="0"/>
              </a:spcBef>
              <a:spcAft>
                <a:spcPts val="0"/>
              </a:spcAft>
              <a:buClr>
                <a:srgbClr val="000000"/>
              </a:buClr>
              <a:buSzPts val="1900"/>
              <a:buFont typeface="Arial"/>
              <a:buNone/>
            </a:pPr>
            <a:r>
              <a:rPr b="0" i="0" lang="en-US" sz="1900" u="none" cap="none" strike="noStrike">
                <a:solidFill>
                  <a:srgbClr val="000000"/>
                </a:solidFill>
                <a:latin typeface="Tahoma"/>
                <a:ea typeface="Tahoma"/>
                <a:cs typeface="Tahoma"/>
                <a:sym typeface="Tahoma"/>
              </a:rPr>
              <a:t>Website Conversion Growth</a:t>
            </a:r>
            <a:endParaRPr b="0" i="0" sz="1900" u="none" cap="none" strike="noStrike">
              <a:solidFill>
                <a:srgbClr val="000000"/>
              </a:solidFill>
              <a:latin typeface="Tahoma"/>
              <a:ea typeface="Tahoma"/>
              <a:cs typeface="Tahoma"/>
              <a:sym typeface="Tahoma"/>
            </a:endParaRPr>
          </a:p>
          <a:p>
            <a:pPr indent="0" lvl="0" marL="12700" marR="0" rtl="0" algn="l">
              <a:lnSpc>
                <a:spcPct val="100000"/>
              </a:lnSpc>
              <a:spcBef>
                <a:spcPts val="150"/>
              </a:spcBef>
              <a:spcAft>
                <a:spcPts val="0"/>
              </a:spcAft>
              <a:buClr>
                <a:srgbClr val="000000"/>
              </a:buClr>
              <a:buSzPts val="1800"/>
              <a:buFont typeface="Arial"/>
              <a:buNone/>
            </a:pPr>
            <a:r>
              <a:rPr b="1" i="0" lang="en-US" sz="1800" u="none" cap="none" strike="noStrike">
                <a:solidFill>
                  <a:srgbClr val="000000"/>
                </a:solidFill>
                <a:latin typeface="Tahoma"/>
                <a:ea typeface="Tahoma"/>
                <a:cs typeface="Tahoma"/>
                <a:sym typeface="Tahoma"/>
              </a:rPr>
              <a:t>+{{growth_rate}}%</a:t>
            </a:r>
            <a:endParaRPr b="0" i="0" sz="1800" u="none" cap="none" strike="noStrike">
              <a:solidFill>
                <a:srgbClr val="000000"/>
              </a:solidFill>
              <a:latin typeface="Tahoma"/>
              <a:ea typeface="Tahoma"/>
              <a:cs typeface="Tahoma"/>
              <a:sym typeface="Tahoma"/>
            </a:endParaRPr>
          </a:p>
        </p:txBody>
      </p:sp>
      <p:sp>
        <p:nvSpPr>
          <p:cNvPr id="133" name="Google Shape;133;p12"/>
          <p:cNvSpPr txBox="1"/>
          <p:nvPr>
            <p:ph type="title"/>
          </p:nvPr>
        </p:nvSpPr>
        <p:spPr>
          <a:xfrm>
            <a:off x="1332988" y="1905414"/>
            <a:ext cx="8333740" cy="11049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SzPts val="1400"/>
              <a:buNone/>
            </a:pPr>
            <a:r>
              <a:rPr lang="en-US" sz="7050"/>
              <a:t>Projected Results</a:t>
            </a:r>
            <a:endParaRPr sz="7050"/>
          </a:p>
        </p:txBody>
      </p:sp>
      <p:sp>
        <p:nvSpPr>
          <p:cNvPr id="134" name="Google Shape;134;p12"/>
          <p:cNvSpPr txBox="1"/>
          <p:nvPr/>
        </p:nvSpPr>
        <p:spPr>
          <a:xfrm>
            <a:off x="4267719" y="7674142"/>
            <a:ext cx="1569720" cy="7753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ahoma"/>
                <a:ea typeface="Tahoma"/>
                <a:cs typeface="Tahoma"/>
                <a:sym typeface="Tahoma"/>
              </a:rPr>
              <a:t>Average ROI</a:t>
            </a:r>
            <a:endParaRPr b="0" i="0" sz="1900" u="none" cap="none" strike="noStrike">
              <a:solidFill>
                <a:srgbClr val="000000"/>
              </a:solidFill>
              <a:latin typeface="Tahoma"/>
              <a:ea typeface="Tahoma"/>
              <a:cs typeface="Tahoma"/>
              <a:sym typeface="Tahoma"/>
            </a:endParaRPr>
          </a:p>
          <a:p>
            <a:pPr indent="0" lvl="0" marL="12700" marR="0" rtl="0" algn="l">
              <a:lnSpc>
                <a:spcPct val="100000"/>
              </a:lnSpc>
              <a:spcBef>
                <a:spcPts val="1470"/>
              </a:spcBef>
              <a:spcAft>
                <a:spcPts val="0"/>
              </a:spcAft>
              <a:buClr>
                <a:srgbClr val="000000"/>
              </a:buClr>
              <a:buSzPts val="1800"/>
              <a:buFont typeface="Arial"/>
              <a:buNone/>
            </a:pPr>
            <a:r>
              <a:rPr b="1" i="0" lang="en-US" sz="1800" u="none" cap="none" strike="noStrike">
                <a:solidFill>
                  <a:srgbClr val="000000"/>
                </a:solidFill>
                <a:latin typeface="Tahoma"/>
                <a:ea typeface="Tahoma"/>
                <a:cs typeface="Tahoma"/>
                <a:sym typeface="Tahoma"/>
              </a:rPr>
              <a:t>{{roi_value}}x</a:t>
            </a:r>
            <a:endParaRPr b="0" i="0" sz="1800" u="none" cap="none" strike="noStrike">
              <a:solidFill>
                <a:srgbClr val="000000"/>
              </a:solidFill>
              <a:latin typeface="Tahoma"/>
              <a:ea typeface="Tahoma"/>
              <a:cs typeface="Tahoma"/>
              <a:sym typeface="Tahoma"/>
            </a:endParaRPr>
          </a:p>
        </p:txBody>
      </p:sp>
      <p:sp>
        <p:nvSpPr>
          <p:cNvPr id="135" name="Google Shape;135;p12"/>
          <p:cNvSpPr txBox="1"/>
          <p:nvPr/>
        </p:nvSpPr>
        <p:spPr>
          <a:xfrm>
            <a:off x="7039282" y="7460216"/>
            <a:ext cx="2312035" cy="989330"/>
          </a:xfrm>
          <a:prstGeom prst="rect">
            <a:avLst/>
          </a:prstGeom>
          <a:noFill/>
          <a:ln>
            <a:noFill/>
          </a:ln>
        </p:spPr>
        <p:txBody>
          <a:bodyPr anchorCtr="0" anchor="t" bIns="0" lIns="0" spcFirstLastPara="1" rIns="0" wrap="square" tIns="12700">
            <a:spAutoFit/>
          </a:bodyPr>
          <a:lstStyle/>
          <a:p>
            <a:pPr indent="0" lvl="0" marL="12700" marR="526415" rtl="0" algn="l">
              <a:lnSpc>
                <a:spcPct val="115700"/>
              </a:lnSpc>
              <a:spcBef>
                <a:spcPts val="0"/>
              </a:spcBef>
              <a:spcAft>
                <a:spcPts val="0"/>
              </a:spcAft>
              <a:buClr>
                <a:srgbClr val="000000"/>
              </a:buClr>
              <a:buSzPts val="1900"/>
              <a:buFont typeface="Arial"/>
              <a:buNone/>
            </a:pPr>
            <a:r>
              <a:rPr b="0" i="0" lang="en-US" sz="1900" u="none" cap="none" strike="noStrike">
                <a:solidFill>
                  <a:srgbClr val="000000"/>
                </a:solidFill>
                <a:latin typeface="Tahoma"/>
                <a:ea typeface="Tahoma"/>
                <a:cs typeface="Tahoma"/>
                <a:sym typeface="Tahoma"/>
              </a:rPr>
              <a:t>Cost Efficiency Increase</a:t>
            </a:r>
            <a:endParaRPr b="0" i="0" sz="1900" u="none" cap="none" strike="noStrike">
              <a:solidFill>
                <a:srgbClr val="000000"/>
              </a:solidFill>
              <a:latin typeface="Tahoma"/>
              <a:ea typeface="Tahoma"/>
              <a:cs typeface="Tahoma"/>
              <a:sym typeface="Tahoma"/>
            </a:endParaRPr>
          </a:p>
          <a:p>
            <a:pPr indent="0" lvl="0" marL="12700" marR="0" rtl="0" algn="l">
              <a:lnSpc>
                <a:spcPct val="100000"/>
              </a:lnSpc>
              <a:spcBef>
                <a:spcPts val="150"/>
              </a:spcBef>
              <a:spcAft>
                <a:spcPts val="0"/>
              </a:spcAft>
              <a:buClr>
                <a:srgbClr val="000000"/>
              </a:buClr>
              <a:buSzPts val="1800"/>
              <a:buFont typeface="Arial"/>
              <a:buNone/>
            </a:pPr>
            <a:r>
              <a:rPr b="1" i="0" lang="en-US" sz="1800" u="none" cap="none" strike="noStrike">
                <a:solidFill>
                  <a:srgbClr val="000000"/>
                </a:solidFill>
                <a:latin typeface="Tahoma"/>
                <a:ea typeface="Tahoma"/>
                <a:cs typeface="Tahoma"/>
                <a:sym typeface="Tahoma"/>
              </a:rPr>
              <a:t>{{efficiency_rate}}%</a:t>
            </a:r>
            <a:endParaRPr b="0" i="0" sz="1800" u="none" cap="none" strike="noStrike">
              <a:solidFill>
                <a:srgbClr val="000000"/>
              </a:solidFill>
              <a:latin typeface="Tahoma"/>
              <a:ea typeface="Tahoma"/>
              <a:cs typeface="Tahoma"/>
              <a:sym typeface="Tahoma"/>
            </a:endParaRPr>
          </a:p>
        </p:txBody>
      </p:sp>
      <p:sp>
        <p:nvSpPr>
          <p:cNvPr id="136" name="Google Shape;136;p12"/>
          <p:cNvSpPr txBox="1"/>
          <p:nvPr/>
        </p:nvSpPr>
        <p:spPr>
          <a:xfrm>
            <a:off x="1332988" y="3607860"/>
            <a:ext cx="8415655" cy="3340735"/>
          </a:xfrm>
          <a:prstGeom prst="rect">
            <a:avLst/>
          </a:prstGeom>
          <a:noFill/>
          <a:ln>
            <a:noFill/>
          </a:ln>
        </p:spPr>
        <p:txBody>
          <a:bodyPr anchorCtr="0" anchor="t" bIns="0" lIns="0" spcFirstLastPara="1" rIns="0" wrap="square" tIns="12050">
            <a:spAutoFit/>
          </a:bodyPr>
          <a:lstStyle/>
          <a:p>
            <a:pPr indent="0" lvl="0" marL="12700" marR="5080" rtl="0" algn="l">
              <a:lnSpc>
                <a:spcPct val="116100"/>
              </a:lnSpc>
              <a:spcBef>
                <a:spcPts val="0"/>
              </a:spcBef>
              <a:spcAft>
                <a:spcPts val="0"/>
              </a:spcAft>
              <a:buClr>
                <a:srgbClr val="000000"/>
              </a:buClr>
              <a:buSzPts val="2250"/>
              <a:buFont typeface="Arial"/>
              <a:buNone/>
            </a:pPr>
            <a:r>
              <a:rPr b="0" i="0" lang="en-US" sz="2250" u="none" cap="none" strike="noStrike">
                <a:solidFill>
                  <a:srgbClr val="000000"/>
                </a:solidFill>
                <a:latin typeface="Tahoma"/>
                <a:ea typeface="Tahoma"/>
                <a:cs typeface="Tahoma"/>
                <a:sym typeface="Tahoma"/>
              </a:rPr>
              <a:t>Based on our analysis of {{client_industry}} trends and performance data, we project measurable growth opportunities once the proposed systems are implemented. The following figures represent benchmark outcomes achieved through similar strategies executed by Digital Dream Works clients.</a:t>
            </a:r>
            <a:endParaRPr b="0" i="0" sz="2250" u="none" cap="none" strike="noStrike">
              <a:solidFill>
                <a:srgbClr val="000000"/>
              </a:solidFill>
              <a:latin typeface="Tahoma"/>
              <a:ea typeface="Tahoma"/>
              <a:cs typeface="Tahoma"/>
              <a:sym typeface="Tahoma"/>
            </a:endParaRPr>
          </a:p>
          <a:p>
            <a:pPr indent="0" lvl="0" marL="0" marR="0" rtl="0" algn="l">
              <a:lnSpc>
                <a:spcPct val="100000"/>
              </a:lnSpc>
              <a:spcBef>
                <a:spcPts val="75"/>
              </a:spcBef>
              <a:spcAft>
                <a:spcPts val="0"/>
              </a:spcAft>
              <a:buClr>
                <a:srgbClr val="000000"/>
              </a:buClr>
              <a:buSzPts val="2250"/>
              <a:buFont typeface="Arial"/>
              <a:buNone/>
            </a:pPr>
            <a:r>
              <a:t/>
            </a:r>
            <a:endParaRPr b="0" i="0" sz="2250" u="none" cap="none" strike="noStrike">
              <a:solidFill>
                <a:srgbClr val="000000"/>
              </a:solidFill>
              <a:latin typeface="Tahoma"/>
              <a:ea typeface="Tahoma"/>
              <a:cs typeface="Tahoma"/>
              <a:sym typeface="Tahoma"/>
            </a:endParaRPr>
          </a:p>
          <a:p>
            <a:pPr indent="0" lvl="0" marL="12700" marR="423544" rtl="0" algn="l">
              <a:lnSpc>
                <a:spcPct val="113599"/>
              </a:lnSpc>
              <a:spcBef>
                <a:spcPts val="0"/>
              </a:spcBef>
              <a:spcAft>
                <a:spcPts val="0"/>
              </a:spcAft>
              <a:buClr>
                <a:srgbClr val="000000"/>
              </a:buClr>
              <a:buSzPts val="1650"/>
              <a:buFont typeface="Arial"/>
              <a:buNone/>
            </a:pPr>
            <a:r>
              <a:rPr b="1" i="0" lang="en-US" sz="1650" u="none" cap="none" strike="noStrike">
                <a:solidFill>
                  <a:srgbClr val="000000"/>
                </a:solidFill>
                <a:latin typeface="Tahoma"/>
                <a:ea typeface="Tahoma"/>
                <a:cs typeface="Tahoma"/>
                <a:sym typeface="Tahoma"/>
              </a:rPr>
              <a:t>Benchmarks based on recent Digital Dream Works campaigns in similar industries.</a:t>
            </a:r>
            <a:endParaRPr b="0" i="0" sz="1650" u="none" cap="none" strike="noStrike">
              <a:solidFill>
                <a:srgbClr val="000000"/>
              </a:solidFill>
              <a:latin typeface="Tahoma"/>
              <a:ea typeface="Tahoma"/>
              <a:cs typeface="Tahoma"/>
              <a:sym typeface="Tahoma"/>
            </a:endParaRPr>
          </a:p>
        </p:txBody>
      </p:sp>
      <p:sp>
        <p:nvSpPr>
          <p:cNvPr id="137" name="Google Shape;137;p12"/>
          <p:cNvSpPr txBox="1"/>
          <p:nvPr/>
        </p:nvSpPr>
        <p:spPr>
          <a:xfrm>
            <a:off x="1455339" y="656244"/>
            <a:ext cx="3326765"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000000"/>
                </a:solidFill>
                <a:latin typeface="Tahoma"/>
                <a:ea typeface="Tahoma"/>
                <a:cs typeface="Tahoma"/>
                <a:sym typeface="Tahoma"/>
              </a:rPr>
              <a:t>Digital Dream Works LLC</a:t>
            </a:r>
            <a:endParaRPr b="0" i="0" sz="1950" u="none" cap="none" strike="noStrike">
              <a:solidFill>
                <a:srgbClr val="000000"/>
              </a:solidFill>
              <a:latin typeface="Tahoma"/>
              <a:ea typeface="Tahoma"/>
              <a:cs typeface="Tahoma"/>
              <a:sym typeface="Tahoma"/>
            </a:endParaRPr>
          </a:p>
        </p:txBody>
      </p:sp>
      <p:sp>
        <p:nvSpPr>
          <p:cNvPr id="138" name="Google Shape;138;p12"/>
          <p:cNvSpPr txBox="1"/>
          <p:nvPr/>
        </p:nvSpPr>
        <p:spPr>
          <a:xfrm>
            <a:off x="5921029" y="681010"/>
            <a:ext cx="1791970"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pic>
        <p:nvPicPr>
          <p:cNvPr id="139" name="Google Shape;139;p12"/>
          <p:cNvPicPr preferRelativeResize="0"/>
          <p:nvPr/>
        </p:nvPicPr>
        <p:blipFill rotWithShape="1">
          <a:blip r:embed="rId3">
            <a:alphaModFix/>
          </a:blip>
          <a:srcRect b="0" l="0" r="0" t="0"/>
          <a:stretch/>
        </p:blipFill>
        <p:spPr>
          <a:xfrm>
            <a:off x="10239259" y="403964"/>
            <a:ext cx="7906429" cy="988303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1568229" y="1582521"/>
            <a:ext cx="8964930" cy="6724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sz="4250"/>
              <a:t>Your Growth Offer &amp; Next Steps</a:t>
            </a:r>
            <a:endParaRPr sz="4250"/>
          </a:p>
        </p:txBody>
      </p:sp>
      <p:sp>
        <p:nvSpPr>
          <p:cNvPr id="145" name="Google Shape;145;p13"/>
          <p:cNvSpPr txBox="1"/>
          <p:nvPr/>
        </p:nvSpPr>
        <p:spPr>
          <a:xfrm>
            <a:off x="11789624" y="2119383"/>
            <a:ext cx="3739500" cy="17076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3150"/>
              <a:buFont typeface="Arial"/>
              <a:buNone/>
            </a:pPr>
            <a:r>
              <a:rPr b="1" i="0" lang="en-US" sz="3150" u="none" cap="none" strike="noStrike">
                <a:solidFill>
                  <a:srgbClr val="000000"/>
                </a:solidFill>
                <a:latin typeface="Tahoma"/>
                <a:ea typeface="Tahoma"/>
                <a:cs typeface="Tahoma"/>
                <a:sym typeface="Tahoma"/>
              </a:rPr>
              <a:t> {{base_price}}</a:t>
            </a:r>
            <a:endParaRPr b="0" i="0" sz="3150" u="none" cap="none" strike="noStrike">
              <a:solidFill>
                <a:srgbClr val="000000"/>
              </a:solidFill>
              <a:latin typeface="Tahoma"/>
              <a:ea typeface="Tahoma"/>
              <a:cs typeface="Tahoma"/>
              <a:sym typeface="Tahoma"/>
            </a:endParaRPr>
          </a:p>
          <a:p>
            <a:pPr indent="0" lvl="0" marL="12700" marR="5080" rtl="0" algn="l">
              <a:lnSpc>
                <a:spcPct val="115399"/>
              </a:lnSpc>
              <a:spcBef>
                <a:spcPts val="1310"/>
              </a:spcBef>
              <a:spcAft>
                <a:spcPts val="0"/>
              </a:spcAft>
              <a:buClr>
                <a:srgbClr val="000000"/>
              </a:buClr>
              <a:buSzPts val="1200"/>
              <a:buFont typeface="Arial"/>
              <a:buNone/>
            </a:pPr>
            <a:r>
              <a:rPr b="0" i="0" lang="en-US" sz="1200" u="none" cap="none" strike="noStrike">
                <a:solidFill>
                  <a:srgbClr val="000000"/>
                </a:solidFill>
                <a:latin typeface="Tahoma"/>
                <a:ea typeface="Tahoma"/>
                <a:cs typeface="Tahoma"/>
                <a:sym typeface="Tahoma"/>
              </a:rPr>
              <a:t>This is the standard rate for {{service_selected}}, including setup, design, development, and optimization. It reflects the current market average in the {{client_industry}} sector based on your business size and target region.</a:t>
            </a:r>
            <a:endParaRPr b="0" i="0" sz="1200" u="none" cap="none" strike="noStrike">
              <a:solidFill>
                <a:srgbClr val="000000"/>
              </a:solidFill>
              <a:latin typeface="Tahoma"/>
              <a:ea typeface="Tahoma"/>
              <a:cs typeface="Tahoma"/>
              <a:sym typeface="Tahoma"/>
            </a:endParaRPr>
          </a:p>
        </p:txBody>
      </p:sp>
      <p:sp>
        <p:nvSpPr>
          <p:cNvPr id="146" name="Google Shape;146;p13"/>
          <p:cNvSpPr txBox="1"/>
          <p:nvPr/>
        </p:nvSpPr>
        <p:spPr>
          <a:xfrm>
            <a:off x="11802324" y="1543840"/>
            <a:ext cx="3411220" cy="384810"/>
          </a:xfrm>
          <a:prstGeom prst="rect">
            <a:avLst/>
          </a:prstGeom>
          <a:solidFill>
            <a:srgbClr val="B00304"/>
          </a:solidFill>
          <a:ln>
            <a:noFill/>
          </a:ln>
        </p:spPr>
        <p:txBody>
          <a:bodyPr anchorCtr="0" anchor="t" bIns="0" lIns="0" spcFirstLastPara="1" rIns="0" wrap="square" tIns="81275">
            <a:spAutoFit/>
          </a:bodyPr>
          <a:lstStyle/>
          <a:p>
            <a:pPr indent="0" lvl="0" marL="177165"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Tahoma"/>
                <a:ea typeface="Tahoma"/>
                <a:cs typeface="Tahoma"/>
                <a:sym typeface="Tahoma"/>
              </a:rPr>
              <a:t>Base Investment</a:t>
            </a:r>
            <a:endParaRPr b="0" i="0" sz="1200" u="none" cap="none" strike="noStrike">
              <a:solidFill>
                <a:srgbClr val="000000"/>
              </a:solidFill>
              <a:latin typeface="Tahoma"/>
              <a:ea typeface="Tahoma"/>
              <a:cs typeface="Tahoma"/>
              <a:sym typeface="Tahoma"/>
            </a:endParaRPr>
          </a:p>
        </p:txBody>
      </p:sp>
      <p:sp>
        <p:nvSpPr>
          <p:cNvPr id="147" name="Google Shape;147;p13"/>
          <p:cNvSpPr txBox="1"/>
          <p:nvPr/>
        </p:nvSpPr>
        <p:spPr>
          <a:xfrm>
            <a:off x="11789624" y="4899373"/>
            <a:ext cx="4163700" cy="149880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3050"/>
              <a:buFont typeface="Arial"/>
              <a:buNone/>
            </a:pPr>
            <a:r>
              <a:rPr b="1" i="0" lang="en-US" sz="3050" u="none" cap="none" strike="noStrike">
                <a:solidFill>
                  <a:srgbClr val="000000"/>
                </a:solidFill>
                <a:latin typeface="Tahoma"/>
                <a:ea typeface="Tahoma"/>
                <a:cs typeface="Tahoma"/>
                <a:sym typeface="Tahoma"/>
              </a:rPr>
              <a:t>{{discount_value}}</a:t>
            </a:r>
            <a:endParaRPr b="0" i="0" sz="3050" u="none" cap="none" strike="noStrike">
              <a:solidFill>
                <a:srgbClr val="000000"/>
              </a:solidFill>
              <a:latin typeface="Tahoma"/>
              <a:ea typeface="Tahoma"/>
              <a:cs typeface="Tahoma"/>
              <a:sym typeface="Tahoma"/>
            </a:endParaRPr>
          </a:p>
          <a:p>
            <a:pPr indent="0" lvl="0" marL="12700" marR="5080" rtl="0" algn="l">
              <a:lnSpc>
                <a:spcPct val="115399"/>
              </a:lnSpc>
              <a:spcBef>
                <a:spcPts val="1475"/>
              </a:spcBef>
              <a:spcAft>
                <a:spcPts val="0"/>
              </a:spcAft>
              <a:buClr>
                <a:srgbClr val="000000"/>
              </a:buClr>
              <a:buSzPts val="1200"/>
              <a:buFont typeface="Arial"/>
              <a:buNone/>
            </a:pPr>
            <a:r>
              <a:rPr b="0" i="0" lang="en-US" sz="1200" u="none" cap="none" strike="noStrike">
                <a:solidFill>
                  <a:srgbClr val="000000"/>
                </a:solidFill>
                <a:latin typeface="Tahoma"/>
                <a:ea typeface="Tahoma"/>
                <a:cs typeface="Tahoma"/>
                <a:sym typeface="Tahoma"/>
              </a:rPr>
              <a:t>As part of our onboarding incentive, we’re extending a 15 % discount valid for the next 24 hours. This limited- time reduction ensures you lock in our best rate while accelerating your campaign’s launch window</a:t>
            </a:r>
            <a:endParaRPr b="0" i="0" sz="1200" u="none" cap="none" strike="noStrike">
              <a:solidFill>
                <a:srgbClr val="000000"/>
              </a:solidFill>
              <a:latin typeface="Tahoma"/>
              <a:ea typeface="Tahoma"/>
              <a:cs typeface="Tahoma"/>
              <a:sym typeface="Tahoma"/>
            </a:endParaRPr>
          </a:p>
        </p:txBody>
      </p:sp>
      <p:sp>
        <p:nvSpPr>
          <p:cNvPr id="148" name="Google Shape;148;p13"/>
          <p:cNvSpPr txBox="1"/>
          <p:nvPr/>
        </p:nvSpPr>
        <p:spPr>
          <a:xfrm>
            <a:off x="11802324" y="4328667"/>
            <a:ext cx="3411220" cy="384810"/>
          </a:xfrm>
          <a:prstGeom prst="rect">
            <a:avLst/>
          </a:prstGeom>
          <a:solidFill>
            <a:srgbClr val="B00304"/>
          </a:solidFill>
          <a:ln>
            <a:noFill/>
          </a:ln>
        </p:spPr>
        <p:txBody>
          <a:bodyPr anchorCtr="0" anchor="t" bIns="0" lIns="0" spcFirstLastPara="1" rIns="0" wrap="square" tIns="69850">
            <a:spAutoFit/>
          </a:bodyPr>
          <a:lstStyle/>
          <a:p>
            <a:pPr indent="0" lvl="0" marL="177165"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Tahoma"/>
                <a:ea typeface="Tahoma"/>
                <a:cs typeface="Tahoma"/>
                <a:sym typeface="Tahoma"/>
              </a:rPr>
              <a:t>Limited Offer Discount</a:t>
            </a:r>
            <a:endParaRPr b="0" i="0" sz="1200" u="none" cap="none" strike="noStrike">
              <a:solidFill>
                <a:srgbClr val="000000"/>
              </a:solidFill>
              <a:latin typeface="Tahoma"/>
              <a:ea typeface="Tahoma"/>
              <a:cs typeface="Tahoma"/>
              <a:sym typeface="Tahoma"/>
            </a:endParaRPr>
          </a:p>
        </p:txBody>
      </p:sp>
      <p:sp>
        <p:nvSpPr>
          <p:cNvPr id="149" name="Google Shape;149;p13"/>
          <p:cNvSpPr txBox="1"/>
          <p:nvPr/>
        </p:nvSpPr>
        <p:spPr>
          <a:xfrm>
            <a:off x="11789624" y="7762654"/>
            <a:ext cx="4764300" cy="14199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3150"/>
              <a:buFont typeface="Arial"/>
              <a:buNone/>
            </a:pPr>
            <a:r>
              <a:rPr b="1" i="0" lang="en-US" sz="3150" u="none" cap="none" strike="noStrike">
                <a:solidFill>
                  <a:srgbClr val="000000"/>
                </a:solidFill>
                <a:latin typeface="Tahoma"/>
                <a:ea typeface="Tahoma"/>
                <a:cs typeface="Tahoma"/>
                <a:sym typeface="Tahoma"/>
              </a:rPr>
              <a:t> {{discounted_price}}</a:t>
            </a:r>
            <a:endParaRPr b="0" i="0" sz="3150" u="none" cap="none" strike="noStrike">
              <a:solidFill>
                <a:srgbClr val="000000"/>
              </a:solidFill>
              <a:latin typeface="Tahoma"/>
              <a:ea typeface="Tahoma"/>
              <a:cs typeface="Tahoma"/>
              <a:sym typeface="Tahoma"/>
            </a:endParaRPr>
          </a:p>
          <a:p>
            <a:pPr indent="0" lvl="0" marL="12700" marR="626745" rtl="0" algn="l">
              <a:lnSpc>
                <a:spcPct val="115399"/>
              </a:lnSpc>
              <a:spcBef>
                <a:spcPts val="730"/>
              </a:spcBef>
              <a:spcAft>
                <a:spcPts val="0"/>
              </a:spcAft>
              <a:buClr>
                <a:srgbClr val="000000"/>
              </a:buClr>
              <a:buSzPts val="1200"/>
              <a:buFont typeface="Arial"/>
              <a:buNone/>
            </a:pPr>
            <a:r>
              <a:rPr b="0" i="0" lang="en-US" sz="1200" u="none" cap="none" strike="noStrike">
                <a:solidFill>
                  <a:srgbClr val="000000"/>
                </a:solidFill>
                <a:latin typeface="Tahoma"/>
                <a:ea typeface="Tahoma"/>
                <a:cs typeface="Tahoma"/>
                <a:sym typeface="Tahoma"/>
              </a:rPr>
              <a:t>The final amount includes your full service scope, after-discount pricing, and implementation readiness. Once confirmed, your project will be queued for onboarding within 24 hours through our AI-powered workflow.</a:t>
            </a:r>
            <a:endParaRPr b="0" i="0" sz="1200" u="none" cap="none" strike="noStrike">
              <a:solidFill>
                <a:srgbClr val="000000"/>
              </a:solidFill>
              <a:latin typeface="Tahoma"/>
              <a:ea typeface="Tahoma"/>
              <a:cs typeface="Tahoma"/>
              <a:sym typeface="Tahoma"/>
            </a:endParaRPr>
          </a:p>
        </p:txBody>
      </p:sp>
      <p:sp>
        <p:nvSpPr>
          <p:cNvPr id="150" name="Google Shape;150;p13"/>
          <p:cNvSpPr txBox="1"/>
          <p:nvPr/>
        </p:nvSpPr>
        <p:spPr>
          <a:xfrm>
            <a:off x="11802324" y="7113496"/>
            <a:ext cx="3411220" cy="384810"/>
          </a:xfrm>
          <a:prstGeom prst="rect">
            <a:avLst/>
          </a:prstGeom>
          <a:solidFill>
            <a:srgbClr val="B00304"/>
          </a:solidFill>
          <a:ln>
            <a:noFill/>
          </a:ln>
        </p:spPr>
        <p:txBody>
          <a:bodyPr anchorCtr="0" anchor="t" bIns="0" lIns="0" spcFirstLastPara="1" rIns="0" wrap="square" tIns="81275">
            <a:spAutoFit/>
          </a:bodyPr>
          <a:lstStyle/>
          <a:p>
            <a:pPr indent="0" lvl="0" marL="177165"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Tahoma"/>
                <a:ea typeface="Tahoma"/>
                <a:cs typeface="Tahoma"/>
                <a:sym typeface="Tahoma"/>
              </a:rPr>
              <a:t>Your Total Today</a:t>
            </a:r>
            <a:endParaRPr b="0" i="0" sz="1200" u="none" cap="none" strike="noStrike">
              <a:solidFill>
                <a:srgbClr val="000000"/>
              </a:solidFill>
              <a:latin typeface="Tahoma"/>
              <a:ea typeface="Tahoma"/>
              <a:cs typeface="Tahoma"/>
              <a:sym typeface="Tahoma"/>
            </a:endParaRPr>
          </a:p>
        </p:txBody>
      </p:sp>
      <p:sp>
        <p:nvSpPr>
          <p:cNvPr id="151" name="Google Shape;151;p13"/>
          <p:cNvSpPr txBox="1"/>
          <p:nvPr>
            <p:ph idx="1" type="body"/>
          </p:nvPr>
        </p:nvSpPr>
        <p:spPr>
          <a:xfrm>
            <a:off x="1455339" y="2902989"/>
            <a:ext cx="9506585" cy="2482850"/>
          </a:xfrm>
          <a:prstGeom prst="rect">
            <a:avLst/>
          </a:prstGeom>
          <a:noFill/>
          <a:ln>
            <a:noFill/>
          </a:ln>
        </p:spPr>
        <p:txBody>
          <a:bodyPr anchorCtr="0" anchor="t" bIns="0" lIns="0" spcFirstLastPara="1" rIns="0" wrap="square" tIns="12700">
            <a:spAutoFit/>
          </a:bodyPr>
          <a:lstStyle/>
          <a:p>
            <a:pPr indent="0" lvl="0" marL="12700" marR="133350" rtl="0" algn="l">
              <a:lnSpc>
                <a:spcPct val="114399"/>
              </a:lnSpc>
              <a:spcBef>
                <a:spcPts val="0"/>
              </a:spcBef>
              <a:spcAft>
                <a:spcPts val="0"/>
              </a:spcAft>
              <a:buSzPts val="1400"/>
              <a:buNone/>
            </a:pPr>
            <a:r>
              <a:rPr lang="en-US"/>
              <a:t>Based on your project goals, we’ve structured a transparent investment plan to launch your {{service_selected}} campaign.</a:t>
            </a:r>
            <a:endParaRPr/>
          </a:p>
          <a:p>
            <a:pPr indent="83820" lvl="0" marL="12700" marR="5080" rtl="0" algn="l">
              <a:lnSpc>
                <a:spcPct val="140391"/>
              </a:lnSpc>
              <a:spcBef>
                <a:spcPts val="80"/>
              </a:spcBef>
              <a:spcAft>
                <a:spcPts val="0"/>
              </a:spcAft>
              <a:buSzPts val="1400"/>
              <a:buNone/>
            </a:pPr>
            <a:r>
              <a:rPr lang="en-US"/>
              <a:t>This plan includes onboarding, setup, and performance optimization — with a 15 % launch discount valid for the next 24 hours.</a:t>
            </a:r>
            <a:endParaRPr/>
          </a:p>
        </p:txBody>
      </p:sp>
      <p:sp>
        <p:nvSpPr>
          <p:cNvPr id="152" name="Google Shape;152;p13"/>
          <p:cNvSpPr/>
          <p:nvPr/>
        </p:nvSpPr>
        <p:spPr>
          <a:xfrm>
            <a:off x="0" y="9705389"/>
            <a:ext cx="18288000" cy="28575"/>
          </a:xfrm>
          <a:custGeom>
            <a:rect b="b" l="l" r="r" t="t"/>
            <a:pathLst>
              <a:path extrusionOk="0" h="28575" w="18288000">
                <a:moveTo>
                  <a:pt x="0" y="28574"/>
                </a:moveTo>
                <a:lnTo>
                  <a:pt x="0" y="0"/>
                </a:lnTo>
                <a:lnTo>
                  <a:pt x="18287999" y="0"/>
                </a:lnTo>
                <a:lnTo>
                  <a:pt x="18287999" y="28574"/>
                </a:lnTo>
                <a:lnTo>
                  <a:pt x="0" y="2857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3"/>
          <p:cNvSpPr/>
          <p:nvPr/>
        </p:nvSpPr>
        <p:spPr>
          <a:xfrm>
            <a:off x="11802323" y="1000124"/>
            <a:ext cx="6485890" cy="28575"/>
          </a:xfrm>
          <a:custGeom>
            <a:rect b="b" l="l" r="r" t="t"/>
            <a:pathLst>
              <a:path extrusionOk="0" h="28575" w="6485890">
                <a:moveTo>
                  <a:pt x="6485675" y="28574"/>
                </a:moveTo>
                <a:lnTo>
                  <a:pt x="0" y="28574"/>
                </a:lnTo>
                <a:lnTo>
                  <a:pt x="0" y="0"/>
                </a:lnTo>
                <a:lnTo>
                  <a:pt x="6485675" y="0"/>
                </a:lnTo>
                <a:lnTo>
                  <a:pt x="6485675" y="2857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3"/>
          <p:cNvSpPr txBox="1"/>
          <p:nvPr/>
        </p:nvSpPr>
        <p:spPr>
          <a:xfrm>
            <a:off x="1467364" y="5748007"/>
            <a:ext cx="9055200" cy="297600"/>
          </a:xfrm>
          <a:prstGeom prst="rect">
            <a:avLst/>
          </a:prstGeom>
          <a:noFill/>
          <a:ln>
            <a:noFill/>
          </a:ln>
        </p:spPr>
        <p:txBody>
          <a:bodyPr anchorCtr="0" anchor="t" bIns="0" lIns="0" spcFirstLastPara="1" rIns="0" wrap="square" tIns="12700">
            <a:spAutoFit/>
          </a:bodyPr>
          <a:lstStyle/>
          <a:p>
            <a:pPr indent="0" lvl="0" marL="12700" marR="5080" rtl="0" algn="l">
              <a:lnSpc>
                <a:spcPct val="114900"/>
              </a:lnSpc>
              <a:spcBef>
                <a:spcPts val="0"/>
              </a:spcBef>
              <a:spcAft>
                <a:spcPts val="0"/>
              </a:spcAft>
              <a:buClr>
                <a:srgbClr val="000000"/>
              </a:buClr>
              <a:buSzPts val="1850"/>
              <a:buFont typeface="Arial"/>
              <a:buNone/>
            </a:pPr>
            <a:r>
              <a:rPr b="0" i="0" lang="en-US" sz="1850" u="none" cap="none" strike="noStrike">
                <a:solidFill>
                  <a:srgbClr val="000000"/>
                </a:solidFill>
                <a:latin typeface="Tahoma"/>
                <a:ea typeface="Tahoma"/>
                <a:cs typeface="Tahoma"/>
                <a:sym typeface="Tahoma"/>
              </a:rPr>
              <a:t>Here’s your personalized investment plan for your {{service_selected}} growth system.</a:t>
            </a:r>
            <a:endParaRPr b="0" i="0" sz="1850" u="none" cap="none" strike="noStrike">
              <a:solidFill>
                <a:srgbClr val="000000"/>
              </a:solidFill>
              <a:latin typeface="Tahoma"/>
              <a:ea typeface="Tahoma"/>
              <a:cs typeface="Tahoma"/>
              <a:sym typeface="Tahoma"/>
            </a:endParaRPr>
          </a:p>
        </p:txBody>
      </p:sp>
      <p:sp>
        <p:nvSpPr>
          <p:cNvPr id="155" name="Google Shape;155;p13"/>
          <p:cNvSpPr txBox="1"/>
          <p:nvPr/>
        </p:nvSpPr>
        <p:spPr>
          <a:xfrm>
            <a:off x="1455352" y="6323418"/>
            <a:ext cx="9079200" cy="624900"/>
          </a:xfrm>
          <a:prstGeom prst="rect">
            <a:avLst/>
          </a:prstGeom>
          <a:noFill/>
          <a:ln>
            <a:noFill/>
          </a:ln>
        </p:spPr>
        <p:txBody>
          <a:bodyPr anchorCtr="0" anchor="t" bIns="0" lIns="0" spcFirstLastPara="1" rIns="0" wrap="square" tIns="12700">
            <a:spAutoFit/>
          </a:bodyPr>
          <a:lstStyle/>
          <a:p>
            <a:pPr indent="0" lvl="0" marL="12700" marR="5080" rtl="0" algn="l">
              <a:lnSpc>
                <a:spcPct val="114900"/>
              </a:lnSpc>
              <a:spcBef>
                <a:spcPts val="0"/>
              </a:spcBef>
              <a:spcAft>
                <a:spcPts val="0"/>
              </a:spcAft>
              <a:buClr>
                <a:srgbClr val="000000"/>
              </a:buClr>
              <a:buSzPts val="1850"/>
              <a:buFont typeface="Arial"/>
              <a:buNone/>
            </a:pPr>
            <a:r>
              <a:rPr b="0" i="0" lang="en-US" sz="1850" u="none" cap="none" strike="noStrike">
                <a:solidFill>
                  <a:srgbClr val="000000"/>
                </a:solidFill>
                <a:latin typeface="Tahoma"/>
                <a:ea typeface="Tahoma"/>
                <a:cs typeface="Tahoma"/>
                <a:sym typeface="Tahoma"/>
              </a:rPr>
              <a:t>Based on your project details, this package covers everything from setup to launch and optimization — at an exclusive 15% discount for the next 24 hours.</a:t>
            </a:r>
            <a:endParaRPr b="0" i="0" sz="1850" u="none" cap="none" strike="noStrike">
              <a:solidFill>
                <a:srgbClr val="000000"/>
              </a:solidFill>
              <a:latin typeface="Tahoma"/>
              <a:ea typeface="Tahoma"/>
              <a:cs typeface="Tahoma"/>
              <a:sym typeface="Tahoma"/>
            </a:endParaRPr>
          </a:p>
        </p:txBody>
      </p:sp>
      <p:sp>
        <p:nvSpPr>
          <p:cNvPr id="156" name="Google Shape;156;p13"/>
          <p:cNvSpPr txBox="1"/>
          <p:nvPr/>
        </p:nvSpPr>
        <p:spPr>
          <a:xfrm>
            <a:off x="1467375" y="7113500"/>
            <a:ext cx="9909300" cy="2082300"/>
          </a:xfrm>
          <a:prstGeom prst="rect">
            <a:avLst/>
          </a:prstGeom>
          <a:noFill/>
          <a:ln>
            <a:noFill/>
          </a:ln>
        </p:spPr>
        <p:txBody>
          <a:bodyPr anchorCtr="0" anchor="t" bIns="0" lIns="0" spcFirstLastPara="1" rIns="0" wrap="square" tIns="311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1850" u="none" cap="none" strike="noStrike">
                <a:solidFill>
                  <a:srgbClr val="000000"/>
                </a:solidFill>
                <a:latin typeface="Tahoma"/>
                <a:ea typeface="Tahoma"/>
                <a:cs typeface="Tahoma"/>
                <a:sym typeface="Tahoma"/>
              </a:rPr>
              <a:t>[Confirm &amp; Pay Now]</a:t>
            </a:r>
            <a:endParaRPr b="0" i="0" sz="1850" u="none" cap="none" strike="noStrike">
              <a:solidFill>
                <a:srgbClr val="000000"/>
              </a:solidFill>
              <a:latin typeface="Tahoma"/>
              <a:ea typeface="Tahoma"/>
              <a:cs typeface="Tahoma"/>
              <a:sym typeface="Tahoma"/>
            </a:endParaRPr>
          </a:p>
          <a:p>
            <a:pPr indent="0" lvl="0" marL="12700" marR="0" rtl="0" algn="l">
              <a:lnSpc>
                <a:spcPct val="100000"/>
              </a:lnSpc>
              <a:spcBef>
                <a:spcPts val="0"/>
              </a:spcBef>
              <a:spcAft>
                <a:spcPts val="0"/>
              </a:spcAft>
              <a:buClr>
                <a:srgbClr val="000000"/>
              </a:buClr>
              <a:buSzPts val="2000"/>
              <a:buFont typeface="Arial"/>
              <a:buNone/>
            </a:pPr>
            <a:r>
              <a:t/>
            </a:r>
            <a:endParaRPr sz="1850">
              <a:latin typeface="Tahoma"/>
              <a:ea typeface="Tahoma"/>
              <a:cs typeface="Tahoma"/>
              <a:sym typeface="Tahoma"/>
            </a:endParaRPr>
          </a:p>
          <a:p>
            <a:pPr indent="0" lvl="0" marL="12700" marR="0" rtl="0" algn="l">
              <a:lnSpc>
                <a:spcPct val="100000"/>
              </a:lnSpc>
              <a:spcBef>
                <a:spcPts val="0"/>
              </a:spcBef>
              <a:spcAft>
                <a:spcPts val="0"/>
              </a:spcAft>
              <a:buClr>
                <a:srgbClr val="000000"/>
              </a:buClr>
              <a:buSzPts val="2000"/>
              <a:buFont typeface="Arial"/>
              <a:buNone/>
            </a:pPr>
            <a:r>
              <a:rPr b="0" i="0" lang="en-US" sz="1850" u="none" cap="none" strike="noStrike">
                <a:solidFill>
                  <a:srgbClr val="000000"/>
                </a:solidFill>
                <a:latin typeface="Tahoma"/>
                <a:ea typeface="Tahoma"/>
                <a:cs typeface="Tahoma"/>
                <a:sym typeface="Tahoma"/>
              </a:rPr>
              <a:t>{{stripe_payment_link}}</a:t>
            </a:r>
            <a:endParaRPr b="0" i="0" sz="1850" u="none" cap="none" strike="noStrike">
              <a:solidFill>
                <a:srgbClr val="000000"/>
              </a:solidFill>
              <a:latin typeface="Tahoma"/>
              <a:ea typeface="Tahoma"/>
              <a:cs typeface="Tahoma"/>
              <a:sym typeface="Tahoma"/>
            </a:endParaRPr>
          </a:p>
          <a:p>
            <a:pPr indent="0" lvl="0" marL="12700" marR="0" rtl="0" algn="l">
              <a:lnSpc>
                <a:spcPct val="100000"/>
              </a:lnSpc>
              <a:spcBef>
                <a:spcPts val="0"/>
              </a:spcBef>
              <a:spcAft>
                <a:spcPts val="0"/>
              </a:spcAft>
              <a:buClr>
                <a:srgbClr val="000000"/>
              </a:buClr>
              <a:buSzPts val="2000"/>
              <a:buFont typeface="Arial"/>
              <a:buNone/>
            </a:pPr>
            <a:r>
              <a:t/>
            </a:r>
            <a:endParaRPr b="0" i="0" sz="1850" u="none" cap="none" strike="noStrike">
              <a:solidFill>
                <a:srgbClr val="000000"/>
              </a:solidFill>
              <a:latin typeface="Tahoma"/>
              <a:ea typeface="Tahoma"/>
              <a:cs typeface="Tahoma"/>
              <a:sym typeface="Tahoma"/>
            </a:endParaRPr>
          </a:p>
          <a:p>
            <a:pPr indent="0" lvl="0" marL="12700" marR="0" rtl="0" algn="l">
              <a:lnSpc>
                <a:spcPct val="100000"/>
              </a:lnSpc>
              <a:spcBef>
                <a:spcPts val="150"/>
              </a:spcBef>
              <a:spcAft>
                <a:spcPts val="0"/>
              </a:spcAft>
              <a:buClr>
                <a:srgbClr val="000000"/>
              </a:buClr>
              <a:buSzPts val="2000"/>
              <a:buFont typeface="Arial"/>
              <a:buNone/>
            </a:pPr>
            <a:r>
              <a:rPr b="0" i="0" lang="en-US" sz="1850" u="none" cap="none" strike="noStrike">
                <a:solidFill>
                  <a:srgbClr val="000000"/>
                </a:solidFill>
                <a:latin typeface="Tahoma"/>
                <a:ea typeface="Tahoma"/>
                <a:cs typeface="Tahoma"/>
                <a:sym typeface="Tahoma"/>
              </a:rPr>
              <a:t>[Book Your Onboarding Call]</a:t>
            </a:r>
            <a:endParaRPr b="0" i="0" sz="1850" u="none" cap="none" strike="noStrike">
              <a:solidFill>
                <a:srgbClr val="000000"/>
              </a:solidFill>
              <a:latin typeface="Tahoma"/>
              <a:ea typeface="Tahoma"/>
              <a:cs typeface="Tahoma"/>
              <a:sym typeface="Tahoma"/>
            </a:endParaRPr>
          </a:p>
          <a:p>
            <a:pPr indent="0" lvl="0" marL="12700" marR="0" rtl="0" algn="l">
              <a:lnSpc>
                <a:spcPct val="100000"/>
              </a:lnSpc>
              <a:spcBef>
                <a:spcPts val="150"/>
              </a:spcBef>
              <a:spcAft>
                <a:spcPts val="0"/>
              </a:spcAft>
              <a:buClr>
                <a:srgbClr val="000000"/>
              </a:buClr>
              <a:buSzPts val="2000"/>
              <a:buFont typeface="Arial"/>
              <a:buNone/>
            </a:pPr>
            <a:r>
              <a:t/>
            </a:r>
            <a:endParaRPr sz="1850">
              <a:latin typeface="Tahoma"/>
              <a:ea typeface="Tahoma"/>
              <a:cs typeface="Tahoma"/>
              <a:sym typeface="Tahoma"/>
            </a:endParaRPr>
          </a:p>
          <a:p>
            <a:pPr indent="0" lvl="0" marL="12700" marR="0" rtl="0" algn="l">
              <a:lnSpc>
                <a:spcPct val="100000"/>
              </a:lnSpc>
              <a:spcBef>
                <a:spcPts val="150"/>
              </a:spcBef>
              <a:spcAft>
                <a:spcPts val="0"/>
              </a:spcAft>
              <a:buClr>
                <a:srgbClr val="000000"/>
              </a:buClr>
              <a:buSzPts val="2000"/>
              <a:buFont typeface="Arial"/>
              <a:buNone/>
            </a:pPr>
            <a:r>
              <a:rPr b="0" i="0" lang="en-US" sz="1850" u="none" cap="none" strike="noStrike">
                <a:solidFill>
                  <a:srgbClr val="000000"/>
                </a:solidFill>
                <a:latin typeface="Tahoma"/>
                <a:ea typeface="Tahoma"/>
                <a:cs typeface="Tahoma"/>
                <a:sym typeface="Tahoma"/>
              </a:rPr>
              <a:t>{{calendly_link}}</a:t>
            </a:r>
            <a:endParaRPr b="0" i="0" sz="1850" u="none" cap="none" strike="noStrike">
              <a:solidFill>
                <a:srgbClr val="000000"/>
              </a:solidFill>
              <a:latin typeface="Tahoma"/>
              <a:ea typeface="Tahoma"/>
              <a:cs typeface="Tahoma"/>
              <a:sym typeface="Tahoma"/>
            </a:endParaRPr>
          </a:p>
        </p:txBody>
      </p:sp>
      <p:sp>
        <p:nvSpPr>
          <p:cNvPr id="157" name="Google Shape;157;p13"/>
          <p:cNvSpPr txBox="1"/>
          <p:nvPr/>
        </p:nvSpPr>
        <p:spPr>
          <a:xfrm>
            <a:off x="1455339" y="656244"/>
            <a:ext cx="3326765"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000000"/>
                </a:solidFill>
                <a:latin typeface="Tahoma"/>
                <a:ea typeface="Tahoma"/>
                <a:cs typeface="Tahoma"/>
                <a:sym typeface="Tahoma"/>
              </a:rPr>
              <a:t>Digital Dream Works LLC</a:t>
            </a:r>
            <a:endParaRPr b="0" i="0" sz="1950" u="none" cap="none" strike="noStrike">
              <a:solidFill>
                <a:srgbClr val="000000"/>
              </a:solidFill>
              <a:latin typeface="Tahoma"/>
              <a:ea typeface="Tahoma"/>
              <a:cs typeface="Tahoma"/>
              <a:sym typeface="Tahoma"/>
            </a:endParaRPr>
          </a:p>
        </p:txBody>
      </p:sp>
      <p:sp>
        <p:nvSpPr>
          <p:cNvPr id="158" name="Google Shape;158;p13"/>
          <p:cNvSpPr txBox="1"/>
          <p:nvPr/>
        </p:nvSpPr>
        <p:spPr>
          <a:xfrm>
            <a:off x="5921029" y="681010"/>
            <a:ext cx="1791970"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14"/>
          <p:cNvSpPr txBox="1"/>
          <p:nvPr/>
        </p:nvSpPr>
        <p:spPr>
          <a:xfrm>
            <a:off x="1345835" y="4805041"/>
            <a:ext cx="14361900" cy="3170400"/>
          </a:xfrm>
          <a:prstGeom prst="rect">
            <a:avLst/>
          </a:prstGeom>
          <a:noFill/>
          <a:ln>
            <a:noFill/>
          </a:ln>
        </p:spPr>
        <p:txBody>
          <a:bodyPr anchorCtr="0" anchor="t" bIns="0" lIns="0" spcFirstLastPara="1" rIns="0" wrap="square" tIns="12050">
            <a:spAutoFit/>
          </a:bodyPr>
          <a:lstStyle/>
          <a:p>
            <a:pPr indent="0" lvl="0" marL="25400" marR="7303769" rtl="0" algn="l">
              <a:lnSpc>
                <a:spcPct val="116799"/>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We appreciate the opportunity to collaborate on your project.</a:t>
            </a:r>
            <a:endParaRPr b="0" i="0" sz="2400" u="none" cap="none" strike="noStrike">
              <a:solidFill>
                <a:srgbClr val="000000"/>
              </a:solidFill>
              <a:latin typeface="Tahoma"/>
              <a:ea typeface="Tahoma"/>
              <a:cs typeface="Tahoma"/>
              <a:sym typeface="Tahoma"/>
            </a:endParaRPr>
          </a:p>
          <a:p>
            <a:pPr indent="0" lvl="0" marL="25400" marR="7303769" rtl="0" algn="l">
              <a:lnSpc>
                <a:spcPct val="116799"/>
              </a:lnSpc>
              <a:spcBef>
                <a:spcPts val="0"/>
              </a:spcBef>
              <a:spcAft>
                <a:spcPts val="0"/>
              </a:spcAft>
              <a:buClr>
                <a:srgbClr val="000000"/>
              </a:buClr>
              <a:buSzPts val="2400"/>
              <a:buFont typeface="Arial"/>
              <a:buNone/>
            </a:pPr>
            <a:r>
              <a:t/>
            </a:r>
            <a:endParaRPr b="0" i="0" sz="2400" u="none" cap="none" strike="noStrike">
              <a:solidFill>
                <a:srgbClr val="000000"/>
              </a:solidFill>
              <a:latin typeface="Tahoma"/>
              <a:ea typeface="Tahoma"/>
              <a:cs typeface="Tahoma"/>
              <a:sym typeface="Tahoma"/>
            </a:endParaRPr>
          </a:p>
          <a:p>
            <a:pPr indent="80645" lvl="0" marL="25400" marR="7218044" rtl="0" algn="l">
              <a:lnSpc>
                <a:spcPct val="116799"/>
              </a:lnSpc>
              <a:spcBef>
                <a:spcPts val="0"/>
              </a:spcBef>
              <a:spcAft>
                <a:spcPts val="0"/>
              </a:spcAft>
              <a:buClr>
                <a:srgbClr val="000000"/>
              </a:buClr>
              <a:buSzPts val="2400"/>
              <a:buFont typeface="Arial"/>
              <a:buNone/>
            </a:pPr>
            <a:r>
              <a:rPr b="0" i="0" lang="en-US" sz="2400" u="none" cap="none" strike="noStrike">
                <a:solidFill>
                  <a:srgbClr val="000000"/>
                </a:solidFill>
                <a:latin typeface="Tahoma"/>
                <a:ea typeface="Tahoma"/>
                <a:cs typeface="Tahoma"/>
                <a:sym typeface="Tahoma"/>
              </a:rPr>
              <a:t>Our team at Digital Dream Works LLC is excited to help you grow faster with the power of AI-driven strategy and automation.</a:t>
            </a:r>
            <a:endParaRPr b="0" i="0" sz="2400" u="none" cap="none" strike="noStrike">
              <a:solidFill>
                <a:srgbClr val="000000"/>
              </a:solidFill>
              <a:latin typeface="Tahoma"/>
              <a:ea typeface="Tahoma"/>
              <a:cs typeface="Tahoma"/>
              <a:sym typeface="Tahoma"/>
            </a:endParaRPr>
          </a:p>
          <a:p>
            <a:pPr indent="0" lvl="0" marL="8856980" marR="0" rtl="0" algn="l">
              <a:lnSpc>
                <a:spcPct val="100000"/>
              </a:lnSpc>
              <a:spcBef>
                <a:spcPts val="2039"/>
              </a:spcBef>
              <a:spcAft>
                <a:spcPts val="0"/>
              </a:spcAft>
              <a:buClr>
                <a:srgbClr val="000000"/>
              </a:buClr>
              <a:buSzPts val="2000"/>
              <a:buFont typeface="Arial"/>
              <a:buNone/>
            </a:pPr>
            <a:r>
              <a:rPr b="0" i="0" lang="en-US" sz="2000" u="none" cap="none" strike="noStrike">
                <a:solidFill>
                  <a:srgbClr val="000000"/>
                </a:solidFill>
                <a:latin typeface="Tahoma"/>
                <a:ea typeface="Tahoma"/>
                <a:cs typeface="Tahoma"/>
                <a:sym typeface="Tahoma"/>
              </a:rPr>
              <a:t>7901 4</a:t>
            </a:r>
            <a:r>
              <a:rPr b="0" baseline="30000" i="0" lang="en-US" sz="1800" u="none" cap="none" strike="noStrike">
                <a:solidFill>
                  <a:srgbClr val="000000"/>
                </a:solidFill>
                <a:latin typeface="Tahoma"/>
                <a:ea typeface="Tahoma"/>
                <a:cs typeface="Tahoma"/>
                <a:sym typeface="Tahoma"/>
              </a:rPr>
              <a:t>th </a:t>
            </a:r>
            <a:r>
              <a:rPr b="0" i="0" lang="en-US" sz="2000" u="none" cap="none" strike="noStrike">
                <a:solidFill>
                  <a:srgbClr val="000000"/>
                </a:solidFill>
                <a:latin typeface="Tahoma"/>
                <a:ea typeface="Tahoma"/>
                <a:cs typeface="Tahoma"/>
                <a:sym typeface="Tahoma"/>
              </a:rPr>
              <a:t>ST N 23948 ST Petersburg, Fl 33702</a:t>
            </a:r>
            <a:endParaRPr b="0" i="0" sz="2000" u="none" cap="none" strike="noStrike">
              <a:solidFill>
                <a:srgbClr val="000000"/>
              </a:solidFill>
              <a:latin typeface="Tahoma"/>
              <a:ea typeface="Tahoma"/>
              <a:cs typeface="Tahoma"/>
              <a:sym typeface="Tahoma"/>
            </a:endParaRPr>
          </a:p>
        </p:txBody>
      </p:sp>
      <p:sp>
        <p:nvSpPr>
          <p:cNvPr id="164" name="Google Shape;164;p14"/>
          <p:cNvSpPr txBox="1"/>
          <p:nvPr/>
        </p:nvSpPr>
        <p:spPr>
          <a:xfrm>
            <a:off x="10190275" y="8420184"/>
            <a:ext cx="198818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ahoma"/>
                <a:ea typeface="Tahoma"/>
                <a:cs typeface="Tahoma"/>
                <a:sym typeface="Tahoma"/>
              </a:rPr>
              <a:t>+1 786 735 2988</a:t>
            </a:r>
            <a:endParaRPr b="0" i="0" sz="2000" u="none" cap="none" strike="noStrike">
              <a:solidFill>
                <a:srgbClr val="000000"/>
              </a:solidFill>
              <a:latin typeface="Tahoma"/>
              <a:ea typeface="Tahoma"/>
              <a:cs typeface="Tahoma"/>
              <a:sym typeface="Tahoma"/>
            </a:endParaRPr>
          </a:p>
        </p:txBody>
      </p:sp>
      <p:sp>
        <p:nvSpPr>
          <p:cNvPr id="165" name="Google Shape;165;p14"/>
          <p:cNvSpPr txBox="1"/>
          <p:nvPr/>
        </p:nvSpPr>
        <p:spPr>
          <a:xfrm>
            <a:off x="12971040" y="8402584"/>
            <a:ext cx="488188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ahoma"/>
                <a:ea typeface="Tahoma"/>
                <a:cs typeface="Tahoma"/>
                <a:sym typeface="Tahoma"/>
                <a:hlinkClick r:id="rId3"/>
              </a:rPr>
              <a:t>www.DigitalDreamWorksAgency.com</a:t>
            </a:r>
            <a:endParaRPr b="0" i="0" sz="2000" u="none" cap="none" strike="noStrike">
              <a:solidFill>
                <a:srgbClr val="000000"/>
              </a:solidFill>
              <a:latin typeface="Tahoma"/>
              <a:ea typeface="Tahoma"/>
              <a:cs typeface="Tahoma"/>
              <a:sym typeface="Tahoma"/>
            </a:endParaRPr>
          </a:p>
        </p:txBody>
      </p:sp>
      <p:sp>
        <p:nvSpPr>
          <p:cNvPr id="166" name="Google Shape;166;p14"/>
          <p:cNvSpPr txBox="1"/>
          <p:nvPr>
            <p:ph type="title"/>
          </p:nvPr>
        </p:nvSpPr>
        <p:spPr>
          <a:xfrm>
            <a:off x="1358535" y="2091641"/>
            <a:ext cx="10320020" cy="224028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SzPts val="1400"/>
              <a:buNone/>
            </a:pPr>
            <a:r>
              <a:rPr lang="en-US" sz="14500"/>
              <a:t>Thank You</a:t>
            </a:r>
            <a:endParaRPr sz="14500"/>
          </a:p>
        </p:txBody>
      </p:sp>
      <p:sp>
        <p:nvSpPr>
          <p:cNvPr id="167" name="Google Shape;167;p14"/>
          <p:cNvSpPr txBox="1"/>
          <p:nvPr/>
        </p:nvSpPr>
        <p:spPr>
          <a:xfrm>
            <a:off x="1358535" y="8261311"/>
            <a:ext cx="5800090" cy="52641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3250"/>
              <a:buFont typeface="Arial"/>
              <a:buNone/>
            </a:pPr>
            <a:r>
              <a:rPr b="1" i="0" lang="en-US" sz="3250" u="none" cap="none" strike="noStrike">
                <a:solidFill>
                  <a:srgbClr val="000000"/>
                </a:solidFill>
                <a:latin typeface="Tahoma"/>
                <a:ea typeface="Tahoma"/>
                <a:cs typeface="Tahoma"/>
                <a:sym typeface="Tahoma"/>
              </a:rPr>
              <a:t>We are ready to assist you</a:t>
            </a:r>
            <a:endParaRPr b="0" i="0" sz="3250" u="none" cap="none" strike="noStrike">
              <a:solidFill>
                <a:srgbClr val="000000"/>
              </a:solidFill>
              <a:latin typeface="Tahoma"/>
              <a:ea typeface="Tahoma"/>
              <a:cs typeface="Tahoma"/>
              <a:sym typeface="Tahoma"/>
            </a:endParaRPr>
          </a:p>
        </p:txBody>
      </p:sp>
      <p:grpSp>
        <p:nvGrpSpPr>
          <p:cNvPr id="168" name="Google Shape;168;p14"/>
          <p:cNvGrpSpPr/>
          <p:nvPr/>
        </p:nvGrpSpPr>
        <p:grpSpPr>
          <a:xfrm>
            <a:off x="9667882" y="8444885"/>
            <a:ext cx="302260" cy="302260"/>
            <a:chOff x="9667882" y="8444885"/>
            <a:chExt cx="302260" cy="302260"/>
          </a:xfrm>
        </p:grpSpPr>
        <p:sp>
          <p:nvSpPr>
            <p:cNvPr id="169" name="Google Shape;169;p14"/>
            <p:cNvSpPr/>
            <p:nvPr/>
          </p:nvSpPr>
          <p:spPr>
            <a:xfrm>
              <a:off x="9667882" y="8444885"/>
              <a:ext cx="302260" cy="302260"/>
            </a:xfrm>
            <a:custGeom>
              <a:rect b="b" l="l" r="r" t="t"/>
              <a:pathLst>
                <a:path extrusionOk="0" h="302259" w="302259">
                  <a:moveTo>
                    <a:pt x="151130" y="302260"/>
                  </a:moveTo>
                  <a:lnTo>
                    <a:pt x="103361" y="294556"/>
                  </a:lnTo>
                  <a:lnTo>
                    <a:pt x="61874" y="273101"/>
                  </a:lnTo>
                  <a:lnTo>
                    <a:pt x="29159" y="240386"/>
                  </a:lnTo>
                  <a:lnTo>
                    <a:pt x="7704" y="198899"/>
                  </a:lnTo>
                  <a:lnTo>
                    <a:pt x="0" y="151130"/>
                  </a:lnTo>
                  <a:lnTo>
                    <a:pt x="7704" y="103361"/>
                  </a:lnTo>
                  <a:lnTo>
                    <a:pt x="29159" y="61874"/>
                  </a:lnTo>
                  <a:lnTo>
                    <a:pt x="61874" y="29159"/>
                  </a:lnTo>
                  <a:lnTo>
                    <a:pt x="103361" y="7704"/>
                  </a:lnTo>
                  <a:lnTo>
                    <a:pt x="151130" y="0"/>
                  </a:lnTo>
                  <a:lnTo>
                    <a:pt x="198899" y="7704"/>
                  </a:lnTo>
                  <a:lnTo>
                    <a:pt x="240386" y="29159"/>
                  </a:lnTo>
                  <a:lnTo>
                    <a:pt x="273101" y="61874"/>
                  </a:lnTo>
                  <a:lnTo>
                    <a:pt x="294556" y="103361"/>
                  </a:lnTo>
                  <a:lnTo>
                    <a:pt x="302260" y="151130"/>
                  </a:lnTo>
                  <a:lnTo>
                    <a:pt x="294556" y="198899"/>
                  </a:lnTo>
                  <a:lnTo>
                    <a:pt x="273101" y="240386"/>
                  </a:lnTo>
                  <a:lnTo>
                    <a:pt x="240386" y="273101"/>
                  </a:lnTo>
                  <a:lnTo>
                    <a:pt x="198899" y="294556"/>
                  </a:lnTo>
                  <a:lnTo>
                    <a:pt x="151130" y="302260"/>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0" name="Google Shape;170;p14"/>
            <p:cNvPicPr preferRelativeResize="0"/>
            <p:nvPr/>
          </p:nvPicPr>
          <p:blipFill rotWithShape="1">
            <a:blip r:embed="rId4">
              <a:alphaModFix/>
            </a:blip>
            <a:srcRect b="0" l="0" r="0" t="0"/>
            <a:stretch/>
          </p:blipFill>
          <p:spPr>
            <a:xfrm>
              <a:off x="9743492" y="8519901"/>
              <a:ext cx="152320" cy="151734"/>
            </a:xfrm>
            <a:prstGeom prst="rect">
              <a:avLst/>
            </a:prstGeom>
            <a:noFill/>
            <a:ln>
              <a:noFill/>
            </a:ln>
          </p:spPr>
        </p:pic>
      </p:grpSp>
      <p:grpSp>
        <p:nvGrpSpPr>
          <p:cNvPr id="171" name="Google Shape;171;p14"/>
          <p:cNvGrpSpPr/>
          <p:nvPr/>
        </p:nvGrpSpPr>
        <p:grpSpPr>
          <a:xfrm>
            <a:off x="9667883" y="7653170"/>
            <a:ext cx="301625" cy="301625"/>
            <a:chOff x="9667883" y="7653170"/>
            <a:chExt cx="301625" cy="301625"/>
          </a:xfrm>
        </p:grpSpPr>
        <p:sp>
          <p:nvSpPr>
            <p:cNvPr id="172" name="Google Shape;172;p14"/>
            <p:cNvSpPr/>
            <p:nvPr/>
          </p:nvSpPr>
          <p:spPr>
            <a:xfrm>
              <a:off x="9667883" y="7653170"/>
              <a:ext cx="301625" cy="301625"/>
            </a:xfrm>
            <a:custGeom>
              <a:rect b="b" l="l" r="r" t="t"/>
              <a:pathLst>
                <a:path extrusionOk="0" h="301625" w="301625">
                  <a:moveTo>
                    <a:pt x="150812" y="301624"/>
                  </a:moveTo>
                  <a:lnTo>
                    <a:pt x="103144" y="293936"/>
                  </a:lnTo>
                  <a:lnTo>
                    <a:pt x="61744" y="272526"/>
                  </a:lnTo>
                  <a:lnTo>
                    <a:pt x="29098" y="239880"/>
                  </a:lnTo>
                  <a:lnTo>
                    <a:pt x="7688" y="198481"/>
                  </a:lnTo>
                  <a:lnTo>
                    <a:pt x="0" y="150812"/>
                  </a:lnTo>
                  <a:lnTo>
                    <a:pt x="7688" y="103144"/>
                  </a:lnTo>
                  <a:lnTo>
                    <a:pt x="29098" y="61744"/>
                  </a:lnTo>
                  <a:lnTo>
                    <a:pt x="61744" y="29098"/>
                  </a:lnTo>
                  <a:lnTo>
                    <a:pt x="103144" y="7688"/>
                  </a:lnTo>
                  <a:lnTo>
                    <a:pt x="150812" y="0"/>
                  </a:lnTo>
                  <a:lnTo>
                    <a:pt x="198481" y="7688"/>
                  </a:lnTo>
                  <a:lnTo>
                    <a:pt x="239880" y="29098"/>
                  </a:lnTo>
                  <a:lnTo>
                    <a:pt x="272526" y="61744"/>
                  </a:lnTo>
                  <a:lnTo>
                    <a:pt x="293936" y="103144"/>
                  </a:lnTo>
                  <a:lnTo>
                    <a:pt x="301624" y="150812"/>
                  </a:lnTo>
                  <a:lnTo>
                    <a:pt x="293936" y="198481"/>
                  </a:lnTo>
                  <a:lnTo>
                    <a:pt x="272526" y="239880"/>
                  </a:lnTo>
                  <a:lnTo>
                    <a:pt x="239880" y="272526"/>
                  </a:lnTo>
                  <a:lnTo>
                    <a:pt x="198481" y="293936"/>
                  </a:lnTo>
                  <a:lnTo>
                    <a:pt x="150812" y="30162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3" name="Google Shape;173;p14"/>
            <p:cNvPicPr preferRelativeResize="0"/>
            <p:nvPr/>
          </p:nvPicPr>
          <p:blipFill rotWithShape="1">
            <a:blip r:embed="rId5">
              <a:alphaModFix/>
            </a:blip>
            <a:srcRect b="0" l="0" r="0" t="0"/>
            <a:stretch/>
          </p:blipFill>
          <p:spPr>
            <a:xfrm>
              <a:off x="9755043" y="7721240"/>
              <a:ext cx="123704" cy="161924"/>
            </a:xfrm>
            <a:prstGeom prst="rect">
              <a:avLst/>
            </a:prstGeom>
            <a:noFill/>
            <a:ln>
              <a:noFill/>
            </a:ln>
          </p:spPr>
        </p:pic>
      </p:grpSp>
      <p:grpSp>
        <p:nvGrpSpPr>
          <p:cNvPr id="174" name="Google Shape;174;p14"/>
          <p:cNvGrpSpPr/>
          <p:nvPr/>
        </p:nvGrpSpPr>
        <p:grpSpPr>
          <a:xfrm>
            <a:off x="12556308" y="8455962"/>
            <a:ext cx="309245" cy="309245"/>
            <a:chOff x="12556308" y="8455962"/>
            <a:chExt cx="309245" cy="309245"/>
          </a:xfrm>
        </p:grpSpPr>
        <p:sp>
          <p:nvSpPr>
            <p:cNvPr id="175" name="Google Shape;175;p14"/>
            <p:cNvSpPr/>
            <p:nvPr/>
          </p:nvSpPr>
          <p:spPr>
            <a:xfrm>
              <a:off x="12556308" y="8455962"/>
              <a:ext cx="309245" cy="309245"/>
            </a:xfrm>
            <a:custGeom>
              <a:rect b="b" l="l" r="r" t="t"/>
              <a:pathLst>
                <a:path extrusionOk="0" h="309245" w="309245">
                  <a:moveTo>
                    <a:pt x="154392" y="308784"/>
                  </a:moveTo>
                  <a:lnTo>
                    <a:pt x="105592" y="300913"/>
                  </a:lnTo>
                  <a:lnTo>
                    <a:pt x="63210" y="278995"/>
                  </a:lnTo>
                  <a:lnTo>
                    <a:pt x="29788" y="245574"/>
                  </a:lnTo>
                  <a:lnTo>
                    <a:pt x="7870" y="203191"/>
                  </a:lnTo>
                  <a:lnTo>
                    <a:pt x="0" y="154391"/>
                  </a:lnTo>
                  <a:lnTo>
                    <a:pt x="7870" y="105592"/>
                  </a:lnTo>
                  <a:lnTo>
                    <a:pt x="29788" y="63210"/>
                  </a:lnTo>
                  <a:lnTo>
                    <a:pt x="63210" y="29788"/>
                  </a:lnTo>
                  <a:lnTo>
                    <a:pt x="105592" y="7871"/>
                  </a:lnTo>
                  <a:lnTo>
                    <a:pt x="154392" y="0"/>
                  </a:lnTo>
                  <a:lnTo>
                    <a:pt x="203192" y="7871"/>
                  </a:lnTo>
                  <a:lnTo>
                    <a:pt x="245574" y="29788"/>
                  </a:lnTo>
                  <a:lnTo>
                    <a:pt x="278995" y="63210"/>
                  </a:lnTo>
                  <a:lnTo>
                    <a:pt x="300913" y="105592"/>
                  </a:lnTo>
                  <a:lnTo>
                    <a:pt x="308784" y="154391"/>
                  </a:lnTo>
                  <a:lnTo>
                    <a:pt x="300913" y="203191"/>
                  </a:lnTo>
                  <a:lnTo>
                    <a:pt x="278995" y="245574"/>
                  </a:lnTo>
                  <a:lnTo>
                    <a:pt x="245574" y="278995"/>
                  </a:lnTo>
                  <a:lnTo>
                    <a:pt x="203192" y="300913"/>
                  </a:lnTo>
                  <a:lnTo>
                    <a:pt x="154392" y="308784"/>
                  </a:lnTo>
                  <a:close/>
                </a:path>
              </a:pathLst>
            </a:custGeom>
            <a:solidFill>
              <a:srgbClr val="B00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6" name="Google Shape;176;p14"/>
            <p:cNvPicPr preferRelativeResize="0"/>
            <p:nvPr/>
          </p:nvPicPr>
          <p:blipFill rotWithShape="1">
            <a:blip r:embed="rId6">
              <a:alphaModFix/>
            </a:blip>
            <a:srcRect b="0" l="0" r="0" t="0"/>
            <a:stretch/>
          </p:blipFill>
          <p:spPr>
            <a:xfrm>
              <a:off x="12632330" y="8531984"/>
              <a:ext cx="152402" cy="152394"/>
            </a:xfrm>
            <a:prstGeom prst="rect">
              <a:avLst/>
            </a:prstGeom>
            <a:noFill/>
            <a:ln>
              <a:noFill/>
            </a:ln>
          </p:spPr>
        </p:pic>
      </p:grpSp>
      <p:pic>
        <p:nvPicPr>
          <p:cNvPr id="177" name="Google Shape;177;p14"/>
          <p:cNvPicPr preferRelativeResize="0"/>
          <p:nvPr/>
        </p:nvPicPr>
        <p:blipFill rotWithShape="1">
          <a:blip r:embed="rId7">
            <a:alphaModFix/>
          </a:blip>
          <a:srcRect b="0" l="0" r="0" t="0"/>
          <a:stretch/>
        </p:blipFill>
        <p:spPr>
          <a:xfrm>
            <a:off x="15806270" y="0"/>
            <a:ext cx="2481728" cy="2017808"/>
          </a:xfrm>
          <a:prstGeom prst="rect">
            <a:avLst/>
          </a:prstGeom>
          <a:noFill/>
          <a:ln>
            <a:noFill/>
          </a:ln>
        </p:spPr>
      </p:pic>
      <p:sp>
        <p:nvSpPr>
          <p:cNvPr id="178" name="Google Shape;178;p14"/>
          <p:cNvSpPr txBox="1"/>
          <p:nvPr/>
        </p:nvSpPr>
        <p:spPr>
          <a:xfrm>
            <a:off x="1455339" y="656244"/>
            <a:ext cx="3326765"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1" i="0" lang="en-US" sz="1950" u="none" cap="none" strike="noStrike">
                <a:solidFill>
                  <a:srgbClr val="000000"/>
                </a:solidFill>
                <a:latin typeface="Tahoma"/>
                <a:ea typeface="Tahoma"/>
                <a:cs typeface="Tahoma"/>
                <a:sym typeface="Tahoma"/>
              </a:rPr>
              <a:t>Digital Dream Works LLC</a:t>
            </a:r>
            <a:endParaRPr b="0" i="0" sz="1950" u="none" cap="none" strike="noStrike">
              <a:solidFill>
                <a:srgbClr val="000000"/>
              </a:solidFill>
              <a:latin typeface="Tahoma"/>
              <a:ea typeface="Tahoma"/>
              <a:cs typeface="Tahoma"/>
              <a:sym typeface="Tahoma"/>
            </a:endParaRPr>
          </a:p>
        </p:txBody>
      </p:sp>
      <p:sp>
        <p:nvSpPr>
          <p:cNvPr id="179" name="Google Shape;179;p14"/>
          <p:cNvSpPr txBox="1"/>
          <p:nvPr/>
        </p:nvSpPr>
        <p:spPr>
          <a:xfrm>
            <a:off x="5921029" y="681010"/>
            <a:ext cx="1791970" cy="3244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1950"/>
              <a:buFont typeface="Arial"/>
              <a:buNone/>
            </a:pPr>
            <a:r>
              <a:rPr b="0" i="0" lang="en-US" sz="1950" u="none" cap="none" strike="noStrike">
                <a:solidFill>
                  <a:srgbClr val="000000"/>
                </a:solidFill>
                <a:latin typeface="Tahoma"/>
                <a:ea typeface="Tahoma"/>
                <a:cs typeface="Tahoma"/>
                <a:sym typeface="Tahoma"/>
              </a:rPr>
              <a:t>{{today_date}}</a:t>
            </a:r>
            <a:endParaRPr b="0" i="0" sz="1950" u="none" cap="none" strike="noStrike">
              <a:solidFill>
                <a:srgbClr val="000000"/>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